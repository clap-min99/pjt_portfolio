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3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73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  |  Verilog RTL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Basys3 FPGA 기반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22402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전자레인지 제어 시스템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31821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Rotary Encoder  /  Timer  /  Servo &amp; Motor PWM  /  FND &amp; Buzzer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30352" y="3968496"/>
            <a:ext cx="10671048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31596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MHz 시스템 클럭 기반 Verilog RTL 설계 및 기능 통합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60807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시스템반도체 SW </a:t>
            </a:r>
            <a:r>
              <a:rPr lang="ko-KR" altLang="en-US" sz="1100" dirty="0" smtClean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ko-KR" altLang="en-US" sz="1100" dirty="0" smtClean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</a:t>
            </a:r>
            <a:r>
              <a:rPr lang="en-US" altLang="ko-KR" sz="1100" dirty="0" smtClean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100" dirty="0" smtClean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r>
              <a:rPr lang="en-US" sz="1100" dirty="0" smtClean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| </a:t>
            </a:r>
            <a:r>
              <a:rPr lang="ko-KR" altLang="en-US" sz="1100" dirty="0" err="1" smtClean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Stopwatch 발표 자료의 구성과 스타일을 참고한 전자레인지 과제 발표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32888"/>
            <a:ext cx="10789920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470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828800" y="18470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120640" y="18745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· 사용자 인터페이스 · 동작 흐름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789920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828800" y="28346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내용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20640" y="286207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 Diagram · 상태 모델 · Rotary · PWM · FND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07992"/>
            <a:ext cx="10789920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22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828800" y="3822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및 검증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120640" y="38496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Integration · 코드 기반 타이밍 분석 · 시연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95544"/>
            <a:ext cx="10789920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809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828800" y="480974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정리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120640" y="483717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포인트 · 확인 범위 · 결론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개요 | 구현 목표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Basys3 보드의 입력과 출력 장치를 결합해 전자레인지의 핵심 동작을 구성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764792"/>
            <a:ext cx="26517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253288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MM:SS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86384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로터리로 분·초 변경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3008" y="1764792"/>
            <a:ext cx="26517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COOK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53288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0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카운트다운 주기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64224" y="1764792"/>
            <a:ext cx="26517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28816" y="253288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28816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PWM Duty 선택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35440" y="1764792"/>
            <a:ext cx="26517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00032" y="253288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50Hz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400032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 열기·닫기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목표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5800" y="4983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→ 시작 → 가열 표시·모터 구동 → 종료 알림의 전체 흐름을 RTL로 연결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출처: 「01_8_과제_전자렌지.pdf」 3~4쪽 요구사항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개요 | 요구사항 대응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항목을 실제 top.v의 신호와 로직에 매핑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73352"/>
            <a:ext cx="10469880" cy="521208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37360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요구 기능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0168" y="1737360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입력·조건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24928" y="1737360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RTL 경로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194560"/>
            <a:ext cx="10469880" cy="0"/>
          </a:xfrm>
          <a:prstGeom prst="line">
            <a:avLst/>
          </a:prstGeom>
          <a:noFill/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40280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분·초 설정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3630168" y="224028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rotary_s1/s2, rotary_key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424928" y="224028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minutes/seconds, key_led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58368" y="2715768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715768"/>
            <a:ext cx="10469880" cy="52120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61488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버튼·문·종료 부저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3630168" y="276148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start/cancel/door_pulse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7424928" y="276148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beep_ms, finished, finish_ms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658368" y="3236976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282696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가열 중 FND 표시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3630168" y="32826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running, display_animation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7424928" y="32826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간격 시간/원형 애니메이션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658368" y="3758184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758184"/>
            <a:ext cx="10469880" cy="52120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803904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기능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3630168" y="380390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cancel_pulse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7424928" y="380390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타이머·실행·종료 초기화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658368" y="4279392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325112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 Open / Close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3630168" y="432511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btn_door, door_open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7424928" y="432511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servo_pwm 1ms/2ms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658368" y="4800600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4800600"/>
            <a:ext cx="10469880" cy="52120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846320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속도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3630168" y="484632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motor_speed[1:0]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7424928" y="484632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20kHz / 40·60·80·100%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658368" y="5321808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5367528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4자리 FND</a:t>
            </a:r>
            <a:endParaRPr lang="en-US" sz="1140" dirty="0"/>
          </a:p>
        </p:txBody>
      </p:sp>
      <p:sp>
        <p:nvSpPr>
          <p:cNvPr id="41" name="Text 39"/>
          <p:cNvSpPr/>
          <p:nvPr/>
        </p:nvSpPr>
        <p:spPr>
          <a:xfrm>
            <a:off x="3630168" y="53675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tick_1ms, visible_value</a:t>
            </a:r>
            <a:endParaRPr lang="en-US" sz="1140" dirty="0"/>
          </a:p>
        </p:txBody>
      </p:sp>
      <p:sp>
        <p:nvSpPr>
          <p:cNvPr id="42" name="Text 40"/>
          <p:cNvSpPr/>
          <p:nvPr/>
        </p:nvSpPr>
        <p:spPr>
          <a:xfrm>
            <a:off x="7424928" y="53675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Multiplexing / BCD / Animation</a:t>
            </a:r>
            <a:endParaRPr lang="en-US" sz="1140" dirty="0"/>
          </a:p>
        </p:txBody>
      </p:sp>
      <p:sp>
        <p:nvSpPr>
          <p:cNvPr id="43" name="Shape 41"/>
          <p:cNvSpPr/>
          <p:nvPr/>
        </p:nvSpPr>
        <p:spPr>
          <a:xfrm>
            <a:off x="658368" y="5843016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범위: 업로드된 Verilog 소스 기준. 과제 요구사항 7개 항목을 재구성함.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개요 | Basys3 입출력 인터페이스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Top 포트 기준 정리 · 핀 번호(XDC)는 제공 자료에 없음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28216"/>
            <a:ext cx="10469880" cy="630936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92224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99232" y="1792224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52744" y="1792224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0456" y="179222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359152"/>
            <a:ext cx="10469880" cy="0"/>
          </a:xfrm>
          <a:prstGeom prst="line">
            <a:avLst/>
          </a:prstGeom>
          <a:noFill/>
          <a:ln w="1143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04872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clk / reset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99232" y="2404872"/>
            <a:ext cx="2770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100MHz / Active High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52744" y="2404872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an[3:0], seg[7:0]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0456" y="2404872"/>
            <a:ext cx="2816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4-digit FND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2990088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990088"/>
            <a:ext cx="10469880" cy="63093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035808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rotary_s1/s2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99232" y="3035808"/>
            <a:ext cx="2770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로터리 회전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52744" y="3035808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key_led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0456" y="3035808"/>
            <a:ext cx="2816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분·초 선택 표시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3621024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666744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rotary_key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99232" y="3666744"/>
            <a:ext cx="2770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대상 토글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52744" y="3666744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buzzer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0456" y="3666744"/>
            <a:ext cx="2816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및 종료 알림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4251960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251960"/>
            <a:ext cx="10469880" cy="63093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297680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btn_start / cancel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99232" y="4297680"/>
            <a:ext cx="2770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시작 / 취소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52744" y="4297680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servo_pwm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0456" y="4297680"/>
            <a:ext cx="2816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 제어 PWM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" y="4882896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928616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btn_door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999232" y="4928616"/>
            <a:ext cx="2770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 Open / Close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52744" y="4928616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motor_pwm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20456" y="4928616"/>
            <a:ext cx="2816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PWM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8368" y="5513832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5513832"/>
            <a:ext cx="10469880" cy="63093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5559552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motor_speed[1:0]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999232" y="5559552"/>
            <a:ext cx="2770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Duty 선택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52744" y="5559552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motor_in1/in2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220456" y="5559552"/>
            <a:ext cx="2816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방향·Enable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58368" y="6144768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Basys3 Pmod 위치와 연결도는 과제 PDF 2쪽을 참고. 발표 전 XDC 파일로 실제 핀 매핑 확인 필요.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개요 | 전자레인지 동작 시나리오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이벤트와 내부 제어 신호의 시간적 흐름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673352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810512"/>
            <a:ext cx="402336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15084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819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" y="24505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00:00 / 모터 정지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673352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2584" y="1810512"/>
            <a:ext cx="402336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1815084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48656" y="1819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24505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로터리 회전으로 분·초 설정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57616" y="1673352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1810512"/>
            <a:ext cx="402336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7072" y="1815084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79992" y="1819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 CLOSED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22208" y="24505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문이 닫혀 있어야 시작 가능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" y="3730752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3867912"/>
            <a:ext cx="402336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872484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3877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" y="45079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단위 카운트다운 + 모터 PWM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3730752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2584" y="3867912"/>
            <a:ext cx="402336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3872484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48656" y="3877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OUT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0872" y="45079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 00:00 → finished=1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57616" y="3730752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3867912"/>
            <a:ext cx="402336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7072" y="3872484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79992" y="3877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22208" y="45079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점멸 3회 + 부저 후 READY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 입력은 실행·종료 알림 단계에서도 현재 동작을 초기화한다.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System Block Diagram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버튼·로터리 입력 경로와 시간·모터·표시 출력 경로를 분리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93392"/>
            <a:ext cx="1984248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112264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Rotary + Buttons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S1/S2/Key · Start/Cancel/Door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44368" y="1993392"/>
            <a:ext cx="1874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2112264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 / Debounce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35808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2FF · 2ms/10ms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84648" y="1993392"/>
            <a:ext cx="20574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4376" y="2112264"/>
            <a:ext cx="1837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Logic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76088" y="248716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minutes · seconds · running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17152" y="1664208"/>
            <a:ext cx="22860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783080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Controller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08592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BCD · 4-digit · Circle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17152" y="2596896"/>
            <a:ext cx="22860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715768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Buzzer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08592" y="30266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2kHz · Beep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17152" y="3538728"/>
            <a:ext cx="22860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3657600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PWM Output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08592" y="3968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Servo 50Hz · Motor 20kHz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24328" y="2404872"/>
            <a:ext cx="320040" cy="0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18888" y="2404872"/>
            <a:ext cx="365760" cy="0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7242048" y="2048256"/>
            <a:ext cx="1975104" cy="265176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42048" y="2386584"/>
            <a:ext cx="1975104" cy="585216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42048" y="2487168"/>
            <a:ext cx="1975104" cy="1444752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" y="4288536"/>
            <a:ext cx="19842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407408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100MHz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" y="470916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44368" y="4288536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54096" y="440740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 Generator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35808" y="47091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1ms enable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24328" y="4645152"/>
            <a:ext cx="320040" cy="0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4818888" y="2843784"/>
            <a:ext cx="1280160" cy="1792224"/>
          </a:xfrm>
          <a:prstGeom prst="line">
            <a:avLst/>
          </a:prstGeom>
          <a:noFill/>
          <a:ln w="15240">
            <a:solidFill>
              <a:srgbClr val="98A3AC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4818888" y="2432304"/>
            <a:ext cx="4398264" cy="2258568"/>
          </a:xfrm>
          <a:prstGeom prst="line">
            <a:avLst/>
          </a:prstGeom>
          <a:noFill/>
          <a:ln w="12700">
            <a:solidFill>
              <a:srgbClr val="98A3AC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349240" y="331927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22392" y="332384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Integration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" y="5623560"/>
            <a:ext cx="10835640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처리 → 제어 판단 → 카운터·액추에이터·디스플레이 출력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Source 모듈 구성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제공된 6개 Verilog 파일에서 실제 TOP 연결 관계를 분리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728216"/>
            <a:ext cx="10378440" cy="649224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92224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95344" y="1792224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44584" y="1792224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연결 상태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2377440"/>
            <a:ext cx="10378440" cy="0"/>
          </a:xfrm>
          <a:prstGeom prst="line">
            <a:avLst/>
          </a:prstGeom>
          <a:noFill/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23160"/>
            <a:ext cx="2926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top.v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895344" y="2423160"/>
            <a:ext cx="5166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시간·문·모터·부저·가열 제어 및 통합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244584" y="2423160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모듈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94944" y="3026664"/>
            <a:ext cx="1037844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026664"/>
            <a:ext cx="10378440" cy="649224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072384"/>
            <a:ext cx="2926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button_debounce_10ms.v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895344" y="3072384"/>
            <a:ext cx="5166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debouncer / btn_debouncer 정의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244584" y="3072384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debouncer 직접 사용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94944" y="3675888"/>
            <a:ext cx="1037844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721608"/>
            <a:ext cx="2926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rotary.v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3895344" y="3721608"/>
            <a:ext cx="5166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Quadrature 해석 · Key Toggle · LED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244584" y="3721608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u_rotary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94944" y="4325112"/>
            <a:ext cx="1037844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" y="4325112"/>
            <a:ext cx="10378440" cy="649224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370832"/>
            <a:ext cx="2926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tick_generator.v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3895344" y="4370832"/>
            <a:ext cx="5166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주기별 1clk Tick 출력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244584" y="4370832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u_tick_1ms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94944" y="4974336"/>
            <a:ext cx="1037844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020056"/>
            <a:ext cx="2926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fnd_controller.v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3895344" y="5020056"/>
            <a:ext cx="5166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BCD / Scan / 12-step Animation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9244584" y="5020056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u_fnd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94944" y="5623560"/>
            <a:ext cx="1037844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" y="5623560"/>
            <a:ext cx="10378440" cy="649224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669280"/>
            <a:ext cx="2926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button_edge.v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3895344" y="5669280"/>
            <a:ext cx="5166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3bit 상승엣지 검출 모듈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9244584" y="5669280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미인스턴스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94944" y="6272784"/>
            <a:ext cx="1037844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동작 상태 모델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state 레지스터의 FSM이 아닌 running / finished / door_open 플래그 기반 제어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865376"/>
            <a:ext cx="2999232" cy="1828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73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331720"/>
            <a:ext cx="2542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/ SETTING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42416" y="277063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running=0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finished=0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0288" y="1865376"/>
            <a:ext cx="2999232" cy="1828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7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331720"/>
            <a:ext cx="2542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COOKING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0328" y="277063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running=1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finished=0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30768" y="1865376"/>
            <a:ext cx="2999232" cy="1828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73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9368" y="2331720"/>
            <a:ext cx="2542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50808" y="277063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running=0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finished=1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39896" y="2743200"/>
            <a:ext cx="841248" cy="0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749040" y="2221992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16952" y="2743200"/>
            <a:ext cx="795528" cy="0"/>
          </a:xfrm>
          <a:prstGeom prst="line">
            <a:avLst/>
          </a:prstGeom>
          <a:noFill/>
          <a:ln w="1905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644384" y="223113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TIMEOUT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930384" y="3758184"/>
            <a:ext cx="0" cy="749808"/>
          </a:xfrm>
          <a:prstGeom prst="line">
            <a:avLst/>
          </a:prstGeom>
          <a:noFill/>
          <a:ln w="1905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2176272" y="4507992"/>
            <a:ext cx="7754112" cy="0"/>
          </a:xfrm>
          <a:prstGeom prst="line">
            <a:avLst/>
          </a:prstGeom>
          <a:noFill/>
          <a:ln w="1905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2176272" y="3758184"/>
            <a:ext cx="0" cy="749808"/>
          </a:xfrm>
          <a:prstGeom prst="line">
            <a:avLst/>
          </a:prstGeom>
          <a:noFill/>
          <a:ln w="1905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166360" y="4645152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경과 → 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5349240"/>
            <a:ext cx="10332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 → 타이머·실행·종료 알림 초기화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Door Interlock · 우선순위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허용 조건과 문 동작 가능 조건을 명시적으로 분리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28800"/>
            <a:ext cx="2194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47672"/>
            <a:ext cx="1975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2459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초기화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00984" y="1828800"/>
            <a:ext cx="2194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947672"/>
            <a:ext cx="1975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92424" y="2459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종료 시퀀스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2194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947672"/>
            <a:ext cx="1975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35040" y="2459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카운트다운 처리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86216" y="1828800"/>
            <a:ext cx="285292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5944" y="1947672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조건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77656" y="245973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 Closed + Time&gt;0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52928" y="2313432"/>
            <a:ext cx="438912" cy="0"/>
          </a:xfrm>
          <a:prstGeom prst="line">
            <a:avLst/>
          </a:prstGeom>
          <a:noFill/>
          <a:ln w="16510">
            <a:solidFill>
              <a:srgbClr val="68737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95544" y="2313432"/>
            <a:ext cx="438912" cy="0"/>
          </a:xfrm>
          <a:prstGeom prst="line">
            <a:avLst/>
          </a:prstGeom>
          <a:noFill/>
          <a:ln w="16510">
            <a:solidFill>
              <a:srgbClr val="68737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2313432"/>
            <a:ext cx="438912" cy="0"/>
          </a:xfrm>
          <a:prstGeom prst="line">
            <a:avLst/>
          </a:prstGeom>
          <a:noFill/>
          <a:ln w="16510">
            <a:solidFill>
              <a:srgbClr val="68737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4088" y="3246120"/>
            <a:ext cx="6537960" cy="2221992"/>
          </a:xfrm>
          <a:prstGeom prst="roundRect">
            <a:avLst>
              <a:gd name="adj" fmla="val 2058"/>
            </a:avLst>
          </a:prstGeom>
          <a:solidFill>
            <a:srgbClr val="F8FAFB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364992"/>
            <a:ext cx="620877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8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Door controller</a:t>
            </a:r>
            <a:endParaRPr lang="en-US" sz="128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8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(door_pulse &amp;&amp; !running &amp;&amp; !finished)</a:t>
            </a:r>
            <a:endParaRPr lang="en-US" sz="128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8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door_open &lt;= ~door_open;</a:t>
            </a:r>
            <a:endParaRPr lang="en-US" sz="1280" dirty="0"/>
          </a:p>
          <a:p>
            <a:pPr marL="0" indent="0" algn="l">
              <a:lnSpc>
                <a:spcPct val="106000"/>
              </a:lnSpc>
              <a:buNone/>
            </a:pPr>
            <a:endParaRPr lang="en-US" sz="128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8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Timer controller (separate always block)</a:t>
            </a:r>
            <a:endParaRPr lang="en-US" sz="128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8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(start_pulse &amp;&amp; !door_open &amp;&amp;</a:t>
            </a:r>
            <a:endParaRPr lang="en-US" sz="128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8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(minutes != 0 || seconds != 0))</a:t>
            </a:r>
            <a:endParaRPr lang="en-US" sz="128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8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running &lt;= 1;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7726680" y="3236976"/>
            <a:ext cx="3648456" cy="2221992"/>
          </a:xfrm>
          <a:prstGeom prst="roundRect">
            <a:avLst>
              <a:gd name="adj" fmla="val 2881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35112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인터록 의미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01000" y="4078224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 열린 상태에서 Start 불가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가열 또는 종료 알림 중 문 토글 불가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Cancel은 상태 초기화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Rotary Encoder · 시간 설정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Quadrature 변화 4회를 1 Detent로 판단하고 분 또는 초를 ±1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84248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04672" y="24780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상태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2404872"/>
            <a:ext cx="374904" cy="0"/>
          </a:xfrm>
          <a:prstGeom prst="line">
            <a:avLst/>
          </a:prstGeom>
          <a:noFill/>
          <a:ln w="2032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16936" y="1984248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2103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08376" y="24780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전이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45736" y="2404872"/>
            <a:ext cx="374904" cy="0"/>
          </a:xfrm>
          <a:prstGeom prst="line">
            <a:avLst/>
          </a:prstGeom>
          <a:noFill/>
          <a:ln w="2032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1984248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103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24780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전이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404872"/>
            <a:ext cx="374904" cy="0"/>
          </a:xfrm>
          <a:prstGeom prst="line">
            <a:avLst/>
          </a:prstGeom>
          <a:noFill/>
          <a:ln w="2032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24344" y="1984248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2103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15784" y="24780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전이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53144" y="2404872"/>
            <a:ext cx="374904" cy="0"/>
          </a:xfrm>
          <a:prstGeom prst="line">
            <a:avLst/>
          </a:prstGeom>
          <a:noFill/>
          <a:ln w="2032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28048" y="1984248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7776" y="2103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19488" y="24780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Detent 완료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2461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CW/CCW 입력 순서에 따라 rotary_steps ± 누적 → ±3 도달 시 값 변경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31520" y="3959352"/>
            <a:ext cx="5248656" cy="1408176"/>
          </a:xfrm>
          <a:prstGeom prst="roundRect">
            <a:avLst>
              <a:gd name="adj" fmla="val 3247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key_led = 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1832" y="46908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minutes 00 ~ 59 설정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7064" y="3959352"/>
            <a:ext cx="5212080" cy="1408176"/>
          </a:xfrm>
          <a:prstGeom prst="roundRect">
            <a:avLst>
              <a:gd name="adj" fmla="val 3247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key_led = 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37376" y="46908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seconds 00 ~ 59 설정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Synchronizer · Debounce · Edge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비동기 입력을 시스템 클럭으로 받아 1회 이벤트를 생성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28800"/>
            <a:ext cx="254203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47672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257860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기계식 스위치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395728"/>
            <a:ext cx="338328" cy="0"/>
          </a:xfrm>
          <a:prstGeom prst="line">
            <a:avLst/>
          </a:prstGeom>
          <a:noFill/>
          <a:ln w="2032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57016" y="1828800"/>
            <a:ext cx="254203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1947672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2FF Sync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8456" y="257860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→ sync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99048" y="2395728"/>
            <a:ext cx="338328" cy="0"/>
          </a:xfrm>
          <a:prstGeom prst="line">
            <a:avLst/>
          </a:prstGeom>
          <a:noFill/>
          <a:ln w="2032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55664" y="1828800"/>
            <a:ext cx="254203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947672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Debouncer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47104" y="257860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 상태 판별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97696" y="2395728"/>
            <a:ext cx="338328" cy="0"/>
          </a:xfrm>
          <a:prstGeom prst="line">
            <a:avLst/>
          </a:prstGeom>
          <a:noFill/>
          <a:ln w="20320">
            <a:solidFill>
              <a:srgbClr val="27303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54312" y="1828800"/>
            <a:ext cx="254203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947672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Detect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45752" y="257860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&amp; ~이전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2688" y="3685032"/>
            <a:ext cx="10296144" cy="1417320"/>
          </a:xfrm>
          <a:prstGeom prst="roundRect">
            <a:avLst>
              <a:gd name="adj" fmla="val 3226"/>
            </a:avLst>
          </a:prstGeom>
          <a:solidFill>
            <a:srgbClr val="F8FAFB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803904"/>
            <a:ext cx="99669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start_pulse  = start_clean  &amp; ~button_prev[0];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cancel_pulse = cancel_clean &amp; ~button_prev[1];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door_pulse   = door_clean   &amp; ~door_prev;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key_pulse    = key_clean    &amp; ~key_prev;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468112"/>
            <a:ext cx="987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버튼·Key : 약 10ms  |  Rotary S1/S2 : 약 2ms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debouncer 기본 DEBOUNCE_LIMIT = 999,999, 로터리 회전 입력 인스턴스만 200,000으로 별도 설정.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Clock · Tick · 카운트 주기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100MHz 기준 카운터 상수에서 실제 제어 주기를 산출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746504"/>
            <a:ext cx="5358384" cy="1399032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9280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ns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40864" y="1901952"/>
            <a:ext cx="3456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클럭 1주기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40864" y="24688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100MHz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7648" y="1746504"/>
            <a:ext cx="5358384" cy="1399032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89280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ms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1901952"/>
            <a:ext cx="3456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스캔 · 타이머 보조 Tick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24688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tick_generator / 1,000Hz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" y="3456432"/>
            <a:ext cx="5358384" cy="1399032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02736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340864" y="3611880"/>
            <a:ext cx="3456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 감소 / 표시 모드 변경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40864" y="417880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second_count = 99,999,999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27648" y="3456432"/>
            <a:ext cx="5358384" cy="1399032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602736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ms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001000" y="3611880"/>
            <a:ext cx="3456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 애니메이션 1 Step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01000" y="417880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× tick_1ms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" y="5806440"/>
            <a:ext cx="10744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Tick은 별도 클럭이 아니라 100MHz clock domain에서 1클럭 HIGH가 되는 Enable Pulse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Countdown Timer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1초마다 초를 먼저 감소시키고, 00초이면 1분을 빌려 59초로 전환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709928"/>
            <a:ext cx="10488168" cy="603504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739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9504" y="17739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경과 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21224" y="1773936"/>
            <a:ext cx="587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경로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2313432"/>
            <a:ext cx="10488168" cy="0"/>
          </a:xfrm>
          <a:prstGeom prst="line">
            <a:avLst/>
          </a:prstGeom>
          <a:noFill/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591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02:15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9504" y="235915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02:14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21224" y="2359152"/>
            <a:ext cx="5870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seconds &gt; 0 → seconds - 1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" y="2916936"/>
            <a:ext cx="10488168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2916936"/>
            <a:ext cx="10488168" cy="603504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9626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02:00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9504" y="2962656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01:59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1224" y="2962656"/>
            <a:ext cx="5870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seconds == 0 → minutes - 1 / seconds = 59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" y="3520440"/>
            <a:ext cx="10488168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5661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00:01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9504" y="356616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21224" y="3566160"/>
            <a:ext cx="5870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 = 1 / running = 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" y="4123944"/>
            <a:ext cx="10488168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352543"/>
            <a:ext cx="10762488" cy="1995093"/>
          </a:xfrm>
          <a:prstGeom prst="roundRect">
            <a:avLst>
              <a:gd name="adj" fmla="val 2890"/>
            </a:avLst>
          </a:prstGeom>
          <a:solidFill>
            <a:srgbClr val="F8FAFB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471416"/>
            <a:ext cx="102321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(seconds != 0) begin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seconds &lt;= seconds - 1'b1;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(minutes == 0 &amp;&amp; seconds == 1) begin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running &lt;= 0;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finished &lt;= 1;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finish_ms &lt;= 0;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else if (minutes != 0) begin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minutes &lt;= minutes - 1'b1;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seconds &lt;= 59;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Servo Motor · Door PWM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20ms 주기(50Hz) 안에서 HIGH Pulse Width를 1ms 또는 2ms로 전환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 CLOSED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1792224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5F7F8"/>
          </a:solidFill>
          <a:ln w="15875">
            <a:solidFill>
              <a:srgbClr val="F5F7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796796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ms / 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2377440"/>
            <a:ext cx="5541264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486400" y="1837944"/>
            <a:ext cx="0" cy="539496"/>
          </a:xfrm>
          <a:prstGeom prst="line">
            <a:avLst/>
          </a:prstGeom>
          <a:noFill/>
          <a:ln w="27940">
            <a:solidFill>
              <a:srgbClr val="2730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837944"/>
            <a:ext cx="251876" cy="0"/>
          </a:xfrm>
          <a:prstGeom prst="line">
            <a:avLst/>
          </a:prstGeom>
          <a:noFill/>
          <a:ln w="27940">
            <a:solidFill>
              <a:srgbClr val="2730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38276" y="1837944"/>
            <a:ext cx="0" cy="539496"/>
          </a:xfrm>
          <a:prstGeom prst="line">
            <a:avLst/>
          </a:prstGeom>
          <a:noFill/>
          <a:ln w="27940">
            <a:solidFill>
              <a:srgbClr val="2730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523913" y="1837944"/>
            <a:ext cx="0" cy="539496"/>
          </a:xfrm>
          <a:prstGeom prst="line">
            <a:avLst/>
          </a:prstGeom>
          <a:noFill/>
          <a:ln w="27940">
            <a:solidFill>
              <a:srgbClr val="2730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23913" y="1837944"/>
            <a:ext cx="251876" cy="0"/>
          </a:xfrm>
          <a:prstGeom prst="line">
            <a:avLst/>
          </a:prstGeom>
          <a:noFill/>
          <a:ln w="27940">
            <a:solidFill>
              <a:srgbClr val="2730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75788" y="1837944"/>
            <a:ext cx="0" cy="539496"/>
          </a:xfrm>
          <a:prstGeom prst="line">
            <a:avLst/>
          </a:prstGeom>
          <a:noFill/>
          <a:ln w="27940">
            <a:solidFill>
              <a:srgbClr val="273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16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 OPEN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71800" y="292608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2930652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 ms / 10%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502152"/>
            <a:ext cx="5541264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5486400" y="2962656"/>
            <a:ext cx="0" cy="539496"/>
          </a:xfrm>
          <a:prstGeom prst="line">
            <a:avLst/>
          </a:prstGeom>
          <a:noFill/>
          <a:ln w="27940">
            <a:solidFill>
              <a:srgbClr val="147D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2962656"/>
            <a:ext cx="503751" cy="0"/>
          </a:xfrm>
          <a:prstGeom prst="line">
            <a:avLst/>
          </a:prstGeom>
          <a:noFill/>
          <a:ln w="27940">
            <a:solidFill>
              <a:srgbClr val="147D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0151" y="2962656"/>
            <a:ext cx="0" cy="539496"/>
          </a:xfrm>
          <a:prstGeom prst="line">
            <a:avLst/>
          </a:prstGeom>
          <a:noFill/>
          <a:ln w="27940">
            <a:solidFill>
              <a:srgbClr val="147D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523913" y="2962656"/>
            <a:ext cx="0" cy="539496"/>
          </a:xfrm>
          <a:prstGeom prst="line">
            <a:avLst/>
          </a:prstGeom>
          <a:noFill/>
          <a:ln w="27940">
            <a:solidFill>
              <a:srgbClr val="147D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23913" y="2962656"/>
            <a:ext cx="503751" cy="0"/>
          </a:xfrm>
          <a:prstGeom prst="line">
            <a:avLst/>
          </a:prstGeom>
          <a:noFill/>
          <a:ln w="27940">
            <a:solidFill>
              <a:srgbClr val="147D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27664" y="2962656"/>
            <a:ext cx="0" cy="539496"/>
          </a:xfrm>
          <a:prstGeom prst="line">
            <a:avLst/>
          </a:prstGeom>
          <a:noFill/>
          <a:ln w="27940">
            <a:solidFill>
              <a:srgbClr val="147D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197096"/>
            <a:ext cx="10515600" cy="1362456"/>
          </a:xfrm>
          <a:prstGeom prst="roundRect">
            <a:avLst>
              <a:gd name="adj" fmla="val 3356"/>
            </a:avLst>
          </a:prstGeom>
          <a:solidFill>
            <a:srgbClr val="F8FAFB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315968"/>
            <a:ext cx="101864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(servo_count == 1_999_999) servo_count &lt;= 0;</a:t>
            </a:r>
            <a:endParaRPr lang="en-US" sz="13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servo_count &lt;= servo_count + 1'b1;</a:t>
            </a:r>
            <a:endParaRPr lang="en-US" sz="13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servo_pwm = servo_count &lt;</a:t>
            </a:r>
            <a:endParaRPr lang="en-US" sz="13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(door_open ? 21'd200_000 : 21'd100_000);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파형은 RTL 상수에서 계산한 개념도이며 오실로스코프 실측 캡처는 아님. 과제 자료 5~6쪽 Servo PWM 규격 참고.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DC Motor · 4단계 PWM 속도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100MHz / 5,000 Count = 20kHz (50µs) PWM, Duty는 motor_speed[1:0]로 선택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20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85616" y="19202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65192" y="1865376"/>
            <a:ext cx="5943600" cy="320040"/>
          </a:xfrm>
          <a:prstGeom prst="rect">
            <a:avLst/>
          </a:prstGeom>
          <a:solidFill>
            <a:srgbClr val="EDF0F2"/>
          </a:solidFill>
          <a:ln w="15875">
            <a:solidFill>
              <a:srgbClr val="EDF0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1865376"/>
            <a:ext cx="2377440" cy="320040"/>
          </a:xfrm>
          <a:prstGeom prst="rect">
            <a:avLst/>
          </a:prstGeom>
          <a:solidFill>
            <a:srgbClr val="147D77"/>
          </a:solidFill>
          <a:ln w="15875">
            <a:solidFill>
              <a:srgbClr val="147D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505456"/>
            <a:ext cx="10332720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8712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8712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85616" y="287121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65192" y="2816352"/>
            <a:ext cx="5943600" cy="320040"/>
          </a:xfrm>
          <a:prstGeom prst="rect">
            <a:avLst/>
          </a:prstGeom>
          <a:solidFill>
            <a:srgbClr val="EDF0F2"/>
          </a:solidFill>
          <a:ln w="15875">
            <a:solidFill>
              <a:srgbClr val="EDF0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65192" y="2816352"/>
            <a:ext cx="3566160" cy="320040"/>
          </a:xfrm>
          <a:prstGeom prst="rect">
            <a:avLst/>
          </a:prstGeom>
          <a:solidFill>
            <a:srgbClr val="147D77"/>
          </a:solidFill>
          <a:ln w="15875">
            <a:solidFill>
              <a:srgbClr val="147D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456432"/>
            <a:ext cx="10332720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8221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382219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85616" y="38221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65192" y="3767328"/>
            <a:ext cx="5943600" cy="320040"/>
          </a:xfrm>
          <a:prstGeom prst="rect">
            <a:avLst/>
          </a:prstGeom>
          <a:solidFill>
            <a:srgbClr val="EDF0F2"/>
          </a:solidFill>
          <a:ln w="15875">
            <a:solidFill>
              <a:srgbClr val="EDF0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192" y="3767328"/>
            <a:ext cx="4754880" cy="320040"/>
          </a:xfrm>
          <a:prstGeom prst="rect">
            <a:avLst/>
          </a:prstGeom>
          <a:solidFill>
            <a:srgbClr val="147D77"/>
          </a:solidFill>
          <a:ln w="15875">
            <a:solidFill>
              <a:srgbClr val="147D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407408"/>
            <a:ext cx="10332720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77316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4773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85616" y="477316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65192" y="4718304"/>
            <a:ext cx="5943600" cy="320040"/>
          </a:xfrm>
          <a:prstGeom prst="rect">
            <a:avLst/>
          </a:prstGeom>
          <a:solidFill>
            <a:srgbClr val="EDF0F2"/>
          </a:solidFill>
          <a:ln w="15875">
            <a:solidFill>
              <a:srgbClr val="EDF0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4718304"/>
            <a:ext cx="5943600" cy="320040"/>
          </a:xfrm>
          <a:prstGeom prst="rect">
            <a:avLst/>
          </a:prstGeom>
          <a:solidFill>
            <a:srgbClr val="147D77"/>
          </a:solidFill>
          <a:ln w="15875">
            <a:solidFill>
              <a:srgbClr val="147D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5358384"/>
            <a:ext cx="10332720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73328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motor_pwm = running &amp;&amp; !reset &amp;&amp; (motor_count &lt; motor_threshold)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motor_in1 = running &amp;&amp; !reset, motor_in2 = 0 → 단방향 구동. Duty 100%는 카운터 비교가 모든 Cycle에서 참.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Buzzer · 입력음과 종료음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2kHz 구형파를 100ms 입력음 또는 3초 완료 알림에 Gate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691640"/>
            <a:ext cx="526694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BEEP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76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/ Cancel / Rotary Key / Door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1965960"/>
            <a:ext cx="996696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70532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9632" y="1691640"/>
            <a:ext cx="52760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 ALERT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9088" y="2276856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표시 500ms ON/OFF × 3회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" y="348386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 DISPLAY / BUZZER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" y="3977640"/>
            <a:ext cx="1766316" cy="640080"/>
          </a:xfrm>
          <a:prstGeom prst="rect">
            <a:avLst/>
          </a:prstGeom>
          <a:solidFill>
            <a:srgbClr val="ECF6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123944"/>
            <a:ext cx="17663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(0)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773168"/>
            <a:ext cx="176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0~0.5s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70988" y="3977640"/>
            <a:ext cx="1766316" cy="640080"/>
          </a:xfrm>
          <a:prstGeom prst="rect">
            <a:avLst/>
          </a:prstGeom>
          <a:solidFill>
            <a:srgbClr val="F5F7F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0988" y="4123944"/>
            <a:ext cx="17663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70988" y="4773168"/>
            <a:ext cx="176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0.5~1s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37304" y="3977640"/>
            <a:ext cx="1766316" cy="640080"/>
          </a:xfrm>
          <a:prstGeom prst="rect">
            <a:avLst/>
          </a:prstGeom>
          <a:solidFill>
            <a:srgbClr val="ECF6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7304" y="4123944"/>
            <a:ext cx="17663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(0)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37304" y="4773168"/>
            <a:ext cx="176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1~1.5s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03620" y="3977640"/>
            <a:ext cx="1766316" cy="640080"/>
          </a:xfrm>
          <a:prstGeom prst="rect">
            <a:avLst/>
          </a:prstGeom>
          <a:solidFill>
            <a:srgbClr val="F5F7F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3620" y="4123944"/>
            <a:ext cx="17663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03620" y="4773168"/>
            <a:ext cx="176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1.5~2s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69936" y="3977640"/>
            <a:ext cx="1766316" cy="640080"/>
          </a:xfrm>
          <a:prstGeom prst="rect">
            <a:avLst/>
          </a:prstGeom>
          <a:solidFill>
            <a:srgbClr val="ECF6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9936" y="4123944"/>
            <a:ext cx="17663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(0)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9936" y="4773168"/>
            <a:ext cx="176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2~2.5s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36252" y="3977640"/>
            <a:ext cx="1766316" cy="640080"/>
          </a:xfrm>
          <a:prstGeom prst="rect">
            <a:avLst/>
          </a:prstGeom>
          <a:solidFill>
            <a:srgbClr val="F5F7F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36252" y="4123944"/>
            <a:ext cx="17663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36252" y="4773168"/>
            <a:ext cx="176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2.5~3s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53400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buzzer_div == 24,999 → buzzer_wave 토글 → 2kHz Tone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Code: finish_blank 구간 0.5~1.0s / 1.5~2.0s / 2.5~3.0s. finish_beep = finished &amp;&amp; !finish_blank.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FND · 설정 및 남은 시간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4-digit FND에서 MM:SS를 표시, 설정 중에는 선택한 두 자리만 깜빡임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719072"/>
            <a:ext cx="10607040" cy="2093976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110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MM : 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33088" y="2377440"/>
            <a:ext cx="1097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5700" b="1" dirty="0">
                <a:solidFill>
                  <a:srgbClr val="17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5193792" y="2377440"/>
            <a:ext cx="1097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5700" b="1" dirty="0">
                <a:solidFill>
                  <a:srgbClr val="17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5700" dirty="0"/>
          </a:p>
        </p:txBody>
      </p:sp>
      <p:sp>
        <p:nvSpPr>
          <p:cNvPr id="12" name="Text 10"/>
          <p:cNvSpPr/>
          <p:nvPr/>
        </p:nvSpPr>
        <p:spPr>
          <a:xfrm>
            <a:off x="6044184" y="241401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6784848" y="2377440"/>
            <a:ext cx="1097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5700" b="1" dirty="0">
                <a:solidFill>
                  <a:srgbClr val="17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7845552" y="2377440"/>
            <a:ext cx="1097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5700" b="1" dirty="0">
                <a:solidFill>
                  <a:srgbClr val="17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5700" dirty="0"/>
          </a:p>
        </p:txBody>
      </p:sp>
      <p:sp>
        <p:nvSpPr>
          <p:cNvPr id="15" name="Shape 13"/>
          <p:cNvSpPr/>
          <p:nvPr/>
        </p:nvSpPr>
        <p:spPr>
          <a:xfrm>
            <a:off x="749808" y="4169664"/>
            <a:ext cx="3401568" cy="1335024"/>
          </a:xfrm>
          <a:prstGeom prst="roundRect">
            <a:avLst>
              <a:gd name="adj" fmla="val 4110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98264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 · Minute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key_led=0 / MM 두 자리 Blink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70832" y="4169664"/>
            <a:ext cx="3401568" cy="1335024"/>
          </a:xfrm>
          <a:prstGeom prst="roundRect">
            <a:avLst>
              <a:gd name="adj" fmla="val 4110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4398264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 · Second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35424" y="489204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key_led=1 / SS 두 자리 Blink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91856" y="4169664"/>
            <a:ext cx="3401568" cy="1335024"/>
          </a:xfrm>
          <a:prstGeom prst="roundRect">
            <a:avLst>
              <a:gd name="adj" fmla="val 4110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4398264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56448" y="489204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FND + Animation 교대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Blink: 0.5초마다 blink_off 토글. Dot: dot_en=4'b0100으로 특정 자리에 DP 표시.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가열 중 표시 전환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display_animation이 1초마다 토글되어 남은 시간과 원형 애니메이션을 번갈아 출력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746504"/>
            <a:ext cx="5367528" cy="2075688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025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DISPLAY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24048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7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01:29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978408" y="3319272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F5F7F8"/>
          </a:solidFill>
          <a:ln w="15875">
            <a:solidFill>
              <a:srgbClr val="F5F7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323844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second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6208" y="1746504"/>
            <a:ext cx="5340096" cy="2075688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025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CIRCLE ANIMATION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115861" y="2487168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8294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8294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5861" y="3126334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5861" y="2806751"/>
            <a:ext cx="262433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3927" y="2487168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6360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6360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3927" y="3126334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8946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8946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43927" y="2806751"/>
            <a:ext cx="262433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71993" y="2487168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4426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4426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71993" y="3126334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7012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7012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1993" y="2806751"/>
            <a:ext cx="262433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0059" y="2487168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2492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2492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00059" y="3126334"/>
            <a:ext cx="262433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25078" y="2844241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25078" y="2562149"/>
            <a:ext cx="74981" cy="282092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00059" y="2806751"/>
            <a:ext cx="262433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1384" y="3319272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ECF6F4"/>
          </a:solidFill>
          <a:ln w="15875">
            <a:solidFill>
              <a:srgbClr val="ECF6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3323844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second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4224528"/>
            <a:ext cx="0" cy="493776"/>
          </a:xfrm>
          <a:prstGeom prst="line">
            <a:avLst/>
          </a:prstGeom>
          <a:noFill/>
          <a:ln w="19050">
            <a:solidFill>
              <a:srgbClr val="147D77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58952" y="4727448"/>
            <a:ext cx="10689336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5020056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표시 1s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419856" y="5230368"/>
            <a:ext cx="557784" cy="0"/>
          </a:xfrm>
          <a:prstGeom prst="line">
            <a:avLst/>
          </a:prstGeom>
          <a:noFill/>
          <a:ln w="25400">
            <a:solidFill>
              <a:srgbClr val="147D77"/>
            </a:solidFill>
            <a:prstDash val="solid"/>
            <a:headEnd type="triangl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224528" y="5020056"/>
            <a:ext cx="2194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Circle 1s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15784" y="5001768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Animation 내부 Step = 100ms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display_animation &lt;= ~display_animation (1초 경계), anim_step은 100번의 tick_1ms마다 증가.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12-step Circle Animation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4자리 FND 외곽에서 점등 Segment가 100ms 간격으로 순환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55925" y="2066544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8265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8265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5925" y="3328965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0944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5925" y="2697754"/>
            <a:ext cx="622341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44848" y="2066544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7189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7189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44848" y="3328965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69868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69868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44848" y="2697754"/>
            <a:ext cx="622341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33772" y="2066544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56113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56113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33772" y="3328965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8791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58791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33772" y="2697754"/>
            <a:ext cx="622341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2696" y="2066544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5036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5036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2696" y="3328965"/>
            <a:ext cx="622341" cy="74981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7715" y="273524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7715" y="2141525"/>
            <a:ext cx="74981" cy="593720"/>
          </a:xfrm>
          <a:prstGeom prst="rect">
            <a:avLst/>
          </a:prstGeom>
          <a:solidFill>
            <a:srgbClr val="98A3AC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22696" y="2697754"/>
            <a:ext cx="622341" cy="74981"/>
          </a:xfrm>
          <a:prstGeom prst="rect">
            <a:avLst/>
          </a:prstGeom>
          <a:solidFill>
            <a:srgbClr val="DDE2E5"/>
          </a:solidFill>
          <a:ln w="12700">
            <a:solidFill>
              <a:srgbClr val="DDE2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1719072"/>
            <a:ext cx="320040" cy="320040"/>
          </a:xfrm>
          <a:prstGeom prst="ellipse">
            <a:avLst/>
          </a:prstGeom>
          <a:solidFill>
            <a:srgbClr val="ECF6F4"/>
          </a:solidFill>
          <a:ln w="12700">
            <a:solidFill>
              <a:srgbClr val="147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173736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88536" y="171907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88536" y="173736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94376" y="171907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94376" y="173736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91072" y="171907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173736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87184" y="2386584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240487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87184" y="3108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87184" y="3127248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27648" y="385876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387705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03520" y="385876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0" y="387705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97680" y="385876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387705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91840" y="385876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387705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76856" y="309067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76856" y="310896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76856" y="239572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76856" y="241401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2960" y="474573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0~3  상단 a   →   4~5  오른쪽 b,c   →   6~9  하단 d   →   10~11  왼쪽 e,f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77240" y="5513832"/>
            <a:ext cx="10643616" cy="512064"/>
          </a:xfrm>
          <a:prstGeom prst="roundRect">
            <a:avLst>
              <a:gd name="adj" fmla="val 8929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0976" y="561441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step × 100ms = 1.2초 / 1바퀴  |  fnd_controller의 anim_active에서 직접 Segment Override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FND Multiplexing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tick_1ms마다 digit_sel이 0→1→2→3 순환 · 각 자리 250Hz Refresh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47088"/>
            <a:ext cx="2514600" cy="262432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8483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 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752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47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= 1110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~ 1ms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3255264"/>
            <a:ext cx="283464" cy="0"/>
          </a:xfrm>
          <a:prstGeom prst="line">
            <a:avLst/>
          </a:prstGeom>
          <a:noFill/>
          <a:ln w="13970">
            <a:solidFill>
              <a:srgbClr val="68737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1847088"/>
            <a:ext cx="2514600" cy="262432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08483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 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66160" y="2752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47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= 1101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38404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~ 2ms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9048" y="3255264"/>
            <a:ext cx="283464" cy="0"/>
          </a:xfrm>
          <a:prstGeom prst="line">
            <a:avLst/>
          </a:prstGeom>
          <a:noFill/>
          <a:ln w="13970">
            <a:solidFill>
              <a:srgbClr val="68737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1847088"/>
            <a:ext cx="2514600" cy="262432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8483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 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2752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47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= 1011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38404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~ 3ms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33688" y="3255264"/>
            <a:ext cx="283464" cy="0"/>
          </a:xfrm>
          <a:prstGeom prst="line">
            <a:avLst/>
          </a:prstGeom>
          <a:noFill/>
          <a:ln w="13970">
            <a:solidFill>
              <a:srgbClr val="68737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35440" y="1847088"/>
            <a:ext cx="2514600" cy="262432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08483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 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2752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47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= 0111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5440" y="38404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~ 4ms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516636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Digits × 1 ms = 4 ms   →   1 / 4 ms = 250 Hz (자리별)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출력은 Active Low · an[3:0], seg[7:0]로 제어.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CODE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구현 내용 | TOP Integration 핵심 Source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업로드된 top.v에서 모듈 연결과 출력 조건을 발췌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27632"/>
            <a:ext cx="10744200" cy="3410712"/>
          </a:xfrm>
          <a:prstGeom prst="roundRect">
            <a:avLst>
              <a:gd name="adj" fmla="val 1340"/>
            </a:avLst>
          </a:prstGeom>
          <a:solidFill>
            <a:srgbClr val="F8FAFB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46504"/>
            <a:ext cx="1041501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tick_generator #(.TICK_Hz(1000)) u_tick_1ms (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.clk(clk), .reset(reset), .tick(tick_1ms)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fnd_controller u_fnd (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.clk(clk), .reset(reset), .tick_1ms(tick_1ms),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.bcd_data(visible_value),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.dot_en(finish_blank ? 4'b0000 : 4'b0100),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.anim_active(running &amp;&amp; display_animation),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.anim_step(anim_step), .an(an), .seg(seg)</a:t>
            </a:r>
            <a:endParaRPr lang="en-US" sz="13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27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0664" y="5294376"/>
            <a:ext cx="10725912" cy="640080"/>
          </a:xfrm>
          <a:prstGeom prst="roundRect">
            <a:avLst>
              <a:gd name="adj" fmla="val 5714"/>
            </a:avLst>
          </a:prstGeom>
          <a:solidFill>
            <a:srgbClr val="ECF6F4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5431536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블록이 100MHz 클럭을 공유하고, 1ms Tick은 FND Scan / Animation / 종료 타이머에서 재사용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검증 | 코드 기반 Timing 분석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설정값으로 산출한 예상 주기 · 실제 Vivado Testbench 캡처는 별도 자료 필요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737360"/>
            <a:ext cx="10469880" cy="612648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01368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52344" y="1801368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주파수/속도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38344" y="180136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67144" y="1801368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2350008"/>
            <a:ext cx="10469880" cy="0"/>
          </a:xfrm>
          <a:prstGeom prst="line">
            <a:avLst/>
          </a:prstGeom>
          <a:noFill/>
          <a:ln w="1143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395728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Servo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2752344" y="2395728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Hz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38344" y="239572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ms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867144" y="2395728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1ms Closed / 2ms Open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94944" y="2962656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2962656"/>
            <a:ext cx="10469880" cy="61264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008376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2752344" y="3008376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kHz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038344" y="30083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µs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6867144" y="3008376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Duty 40 / 60 / 80 / 100%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94944" y="3575304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621024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Buzzer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2752344" y="3621024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kHz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5038344" y="3621024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 ms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6867144" y="3621024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100ms 버튼 음 · 3회 종료음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94944" y="4187952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" y="4187952"/>
            <a:ext cx="10469880" cy="61264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233672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Scan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2752344" y="4233672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 Hz/digit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5038344" y="4233672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ms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6867144" y="4233672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1ms × 4자리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694944" y="4800600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4846320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Countdown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2752344" y="4846320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Hz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5038344" y="4846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s</a:t>
            </a:r>
            <a:endParaRPr lang="en-US" sz="1180" dirty="0"/>
          </a:p>
        </p:txBody>
      </p:sp>
      <p:sp>
        <p:nvSpPr>
          <p:cNvPr id="39" name="Text 37"/>
          <p:cNvSpPr/>
          <p:nvPr/>
        </p:nvSpPr>
        <p:spPr>
          <a:xfrm>
            <a:off x="6867144" y="4846320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MM:SS 감소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694944" y="5413248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" y="5413248"/>
            <a:ext cx="10469880" cy="61264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5458968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Animation</a:t>
            </a:r>
            <a:endParaRPr lang="en-US" sz="1180" dirty="0"/>
          </a:p>
        </p:txBody>
      </p:sp>
      <p:sp>
        <p:nvSpPr>
          <p:cNvPr id="43" name="Text 41"/>
          <p:cNvSpPr/>
          <p:nvPr/>
        </p:nvSpPr>
        <p:spPr>
          <a:xfrm>
            <a:off x="2752344" y="5458968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Steps/s</a:t>
            </a:r>
            <a:endParaRPr lang="en-US" sz="1180" dirty="0"/>
          </a:p>
        </p:txBody>
      </p:sp>
      <p:sp>
        <p:nvSpPr>
          <p:cNvPr id="44" name="Text 42"/>
          <p:cNvSpPr/>
          <p:nvPr/>
        </p:nvSpPr>
        <p:spPr>
          <a:xfrm>
            <a:off x="5038344" y="545896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ms</a:t>
            </a:r>
            <a:endParaRPr lang="en-US" sz="1180" dirty="0"/>
          </a:p>
        </p:txBody>
      </p:sp>
      <p:sp>
        <p:nvSpPr>
          <p:cNvPr id="45" name="Text 43"/>
          <p:cNvSpPr/>
          <p:nvPr/>
        </p:nvSpPr>
        <p:spPr>
          <a:xfrm>
            <a:off x="6867144" y="5458968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12-step loop</a:t>
            </a:r>
            <a:endParaRPr lang="en-US" sz="1180" dirty="0"/>
          </a:p>
        </p:txBody>
      </p:sp>
      <p:sp>
        <p:nvSpPr>
          <p:cNvPr id="46" name="Shape 44"/>
          <p:cNvSpPr/>
          <p:nvPr/>
        </p:nvSpPr>
        <p:spPr>
          <a:xfrm>
            <a:off x="694944" y="6025896"/>
            <a:ext cx="10469880" cy="0"/>
          </a:xfrm>
          <a:prstGeom prst="line">
            <a:avLst/>
          </a:prstGeom>
          <a:noFill/>
          <a:ln w="7620">
            <a:solidFill>
              <a:srgbClr val="D8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" y="5952744"/>
            <a:ext cx="10469880" cy="365760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598932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위 수치는 RTL 코드에서 계산한 설계상 타이밍이며, 시뮬레이션 PASS 또는 하드웨어 실측 수치가 아님.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검증 | 보드 동작 시연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pic>
        <p:nvPicPr>
          <p:cNvPr id="28" name="microwav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1060" y="1485424"/>
            <a:ext cx="7961313" cy="45111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 SHOOTING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r>
              <a:rPr lang="en-US" sz="2500" b="1" dirty="0" err="1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 smtClean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0272" y="6565392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3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86384" y="18470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562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35024" y="1819656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채터링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42232" y="1819656"/>
            <a:ext cx="7068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2FF Sync + Debouncer + Edge를 통해 버튼 1회 입력 처리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" y="2560320"/>
            <a:ext cx="10616184" cy="0"/>
          </a:xfrm>
          <a:prstGeom prst="line">
            <a:avLst/>
          </a:prstGeom>
          <a:noFill/>
          <a:ln w="8255">
            <a:solidFill>
              <a:srgbClr val="D8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8437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852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35024" y="281635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시간·구동 독립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42232" y="2816352"/>
            <a:ext cx="7068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100MHz 단일 클럭에서 각기 다른 카운터로 제어 주기 분리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" y="3557016"/>
            <a:ext cx="10616184" cy="0"/>
          </a:xfrm>
          <a:prstGeom prst="line">
            <a:avLst/>
          </a:prstGeom>
          <a:noFill/>
          <a:ln w="8255">
            <a:solidFill>
              <a:srgbClr val="D8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38404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8496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35024" y="381304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 동작 안전조건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142232" y="3813048"/>
            <a:ext cx="7068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door_open과 running / finished 조건으로 시작·문 전이 제한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8096" y="4553712"/>
            <a:ext cx="10616184" cy="0"/>
          </a:xfrm>
          <a:prstGeom prst="line">
            <a:avLst/>
          </a:prstGeom>
          <a:noFill/>
          <a:ln w="8255">
            <a:solidFill>
              <a:srgbClr val="D8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83717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8463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7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35024" y="480974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충돌 방지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142232" y="4809744"/>
            <a:ext cx="7068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Controller에서 anim_active 우선으로 Segment 전환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8096" y="5550408"/>
            <a:ext cx="10616184" cy="0"/>
          </a:xfrm>
          <a:prstGeom prst="line">
            <a:avLst/>
          </a:prstGeom>
          <a:noFill/>
          <a:ln w="8255">
            <a:solidFill>
              <a:srgbClr val="D8DDE2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9496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66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결론 | 전자레인지 RTL 통합 구현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입력·상태·시간·출력 모듈을 실제 하드웨어 동작으로 연결하는 제어 실습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8D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0272" y="6565392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3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95528" y="1911096"/>
            <a:ext cx="3447288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1488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2734056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Rotary + Buttons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96696" y="36941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· 시작 · 취소 · Door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08576" y="1911096"/>
            <a:ext cx="3447288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1488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9744" y="2734056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 + Condition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9744" y="36941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Countdown · End Alert · Interlock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21624" y="1911096"/>
            <a:ext cx="3447288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D8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21488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7D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22792" y="2734056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+ Servo + DC + Buzzer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22792" y="36941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표시 · 구동 · 알림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29200"/>
            <a:ext cx="10634472" cy="0"/>
          </a:xfrm>
          <a:prstGeom prst="line">
            <a:avLst/>
          </a:prstGeom>
          <a:noFill/>
          <a:ln w="11430">
            <a:solidFill>
              <a:srgbClr val="D8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5239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과제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70632" y="5239512"/>
            <a:ext cx="8613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TB / 실제 파형 / 보드 시연 영상을 첨부해 기능·타이밍 검증 근거 보완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530352"/>
            <a:ext cx="11128248" cy="0"/>
          </a:xfrm>
          <a:prstGeom prst="line">
            <a:avLst/>
          </a:prstGeom>
          <a:noFill/>
          <a:ln w="11430">
            <a:solidFill>
              <a:srgbClr val="D8D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138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BASYS3 · VERILOG RTL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2459736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17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594360" y="38679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5193792"/>
            <a:ext cx="10643616" cy="0"/>
          </a:xfrm>
          <a:prstGeom prst="line">
            <a:avLst/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052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전자레인지 · Rotary · Countdown · Servo / Motor PWM · FND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62179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873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 |  Basys3 FPGA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2083</Words>
  <Application>Microsoft Office PowerPoint</Application>
  <PresentationFormat>와이드스크린</PresentationFormat>
  <Paragraphs>507</Paragraphs>
  <Slides>27</Slides>
  <Notes>27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Basys3 FPGA 기반 전자레인지 제어</dc:title>
  <dc:subject>Basys3 FPGA Verilog microwave controller</dc:subject>
  <dc:creator>OpenAI</dc:creator>
  <cp:lastModifiedBy>kccistc</cp:lastModifiedBy>
  <cp:revision>2</cp:revision>
  <dcterms:created xsi:type="dcterms:W3CDTF">2026-10-29T05:43:02Z</dcterms:created>
  <dcterms:modified xsi:type="dcterms:W3CDTF">2026-10-29T06:52:38Z</dcterms:modified>
</cp:coreProperties>
</file>