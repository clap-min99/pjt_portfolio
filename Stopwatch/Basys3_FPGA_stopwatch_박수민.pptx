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17"/>
    <p:sldId id="273" r:id="rId18"/>
    <p:sldId id="274" r:id="rId19"/>
    <p:sldId id="275" r:id="rId20"/>
    <p:sldId id="276" r:id="rId21"/>
    <p:sldId id="278" r:id="rId22"/>
    <p:sldId id="279" r:id="rId23"/>
    <p:sldId id="280" r:id="rId24"/>
    <p:sldId id="281" r:id="rId25"/>
    <p:sldId id="282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132" y="172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621792" y="347472"/>
            <a:ext cx="10936224" cy="0"/>
          </a:xfrm>
          <a:prstGeom prst="line">
            <a:avLst/>
          </a:prstGeom>
          <a:ln w="10160">
            <a:solidFill>
              <a:srgbClr val="D1D1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640080" y="667512"/>
            <a:ext cx="64008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D6D6D"/>
                </a:solidFill>
                <a:latin typeface="Noto Sans CJK KR"/>
              </a:defRPr>
            </a:pPr>
            <a:r>
              <a:t>2026.10  |  Verilog RTL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719072"/>
            <a:ext cx="960120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3800" b="1">
                <a:solidFill>
                  <a:srgbClr val="111111"/>
                </a:solidFill>
                <a:latin typeface="Noto Sans CJK KR"/>
              </a:defRPr>
            </a:pPr>
            <a:r>
              <a:t>Basys3 FPGA 기반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432304"/>
            <a:ext cx="10332720" cy="7955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111111"/>
                </a:solidFill>
                <a:latin typeface="Noto Sans CJK KR"/>
              </a:defRPr>
            </a:pPr>
            <a:r>
              <a:t>분초시계 · Stopwatch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" y="3502152"/>
            <a:ext cx="1033272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6D6D6D"/>
                </a:solidFill>
                <a:latin typeface="Noto Sans CJK KR"/>
              </a:defRPr>
            </a:pPr>
            <a:r>
              <a:t>3-State FSM  /  Timer  /  FND  /  Circle Animation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4361688"/>
            <a:ext cx="10497312" cy="0"/>
          </a:xfrm>
          <a:prstGeom prst="line">
            <a:avLst/>
          </a:prstGeom>
          <a:ln w="11430">
            <a:solidFill>
              <a:srgbClr val="D1D1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76656" y="4690872"/>
            <a:ext cx="1024128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11111"/>
                </a:solidFill>
                <a:latin typeface="Noto Sans CJK KR"/>
              </a:defRPr>
            </a:pPr>
            <a:r>
              <a:t>100 MHz 시스템 클럭을 이용한 RTL 구현과 검증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6071616"/>
            <a:ext cx="91440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D6D6D"/>
                </a:solidFill>
                <a:latin typeface="Noto Sans CJK KR"/>
              </a:defRPr>
            </a:pPr>
            <a:r>
              <a:t>AI 시스템반도체 SW 과정  |  Verilog 구현 발표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6D6D6D"/>
                </a:solidFill>
                <a:latin typeface="Noto Sans CJK KR"/>
              </a:defRPr>
            </a:pPr>
            <a:r>
              <a:t>CONTENTS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94360" y="704088"/>
            <a:ext cx="11000232" cy="0"/>
          </a:xfrm>
          <a:prstGeom prst="line">
            <a:avLst/>
          </a:prstGeom>
          <a:ln w="11430">
            <a:solidFill>
              <a:srgbClr val="D1D1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12648" y="896112"/>
            <a:ext cx="10954512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11111"/>
                </a:solidFill>
                <a:latin typeface="Noto Sans CJK KR"/>
              </a:defRPr>
            </a:pPr>
            <a:r>
              <a:t>목차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72184"/>
            <a:ext cx="10936224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D6D6D"/>
                </a:solidFill>
                <a:latin typeface="Noto Sans CJK KR"/>
              </a:defRPr>
            </a:pPr>
            <a:r>
              <a:t>발표 자료 구성  ·  설계 근거와 검증 결과를 분리하여 설명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2395728"/>
            <a:ext cx="402336" cy="402336"/>
          </a:xfrm>
          <a:prstGeom prst="ellipse">
            <a:avLst/>
          </a:prstGeom>
          <a:noFill/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13816" y="2478024"/>
            <a:ext cx="329184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D6D6D"/>
                </a:solidFill>
                <a:latin typeface="Noto Sans CJK KR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377440"/>
            <a:ext cx="47091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11111"/>
                </a:solidFill>
                <a:latin typeface="Noto Sans CJK KR"/>
              </a:defRPr>
            </a:pPr>
            <a:r>
              <a:t>개요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0744" y="2834640"/>
            <a:ext cx="4828032" cy="4480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D6D6D"/>
                </a:solidFill>
                <a:latin typeface="Noto Sans CJK KR"/>
              </a:defRPr>
            </a:pPr>
            <a:r>
              <a:t>기능 목표 · Basys3 인터페이스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3968496"/>
            <a:ext cx="402336" cy="402336"/>
          </a:xfrm>
          <a:prstGeom prst="ellipse">
            <a:avLst/>
          </a:prstGeom>
          <a:noFill/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13816" y="4050791"/>
            <a:ext cx="329184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D6D6D"/>
                </a:solidFill>
                <a:latin typeface="Noto Sans CJK KR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950208"/>
            <a:ext cx="47091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11111"/>
                </a:solidFill>
                <a:latin typeface="Noto Sans CJK KR"/>
              </a:defRPr>
            </a:pPr>
            <a:r>
              <a:t>구현 내용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80744" y="4407408"/>
            <a:ext cx="4828032" cy="4480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D6D6D"/>
                </a:solidFill>
                <a:latin typeface="Noto Sans CJK KR"/>
              </a:defRPr>
            </a:pPr>
            <a:r>
              <a:t>Block Diagram · FSM · Code · TB · Timing · 동작 영상</a:t>
            </a:r>
          </a:p>
        </p:txBody>
      </p:sp>
      <p:sp>
        <p:nvSpPr>
          <p:cNvPr id="15" name="Oval 14"/>
          <p:cNvSpPr/>
          <p:nvPr/>
        </p:nvSpPr>
        <p:spPr>
          <a:xfrm>
            <a:off x="6464807" y="2395728"/>
            <a:ext cx="402336" cy="402336"/>
          </a:xfrm>
          <a:prstGeom prst="ellipse">
            <a:avLst/>
          </a:prstGeom>
          <a:noFill/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01383" y="2478024"/>
            <a:ext cx="329184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D6D6D"/>
                </a:solidFill>
                <a:latin typeface="Noto Sans CJK KR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59168" y="2377440"/>
            <a:ext cx="47091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11111"/>
                </a:solidFill>
                <a:latin typeface="Noto Sans CJK KR"/>
              </a:defRPr>
            </a:pPr>
            <a:r>
              <a:t>Trouble Shooting 및 구현 후기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68312" y="2834640"/>
            <a:ext cx="4828032" cy="4480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D6D6D"/>
                </a:solidFill>
                <a:latin typeface="Noto Sans CJK KR"/>
              </a:defRPr>
            </a:pPr>
            <a:r>
              <a:t>오류 원인 분석 · 수정 · 결과</a:t>
            </a:r>
          </a:p>
        </p:txBody>
      </p:sp>
      <p:sp>
        <p:nvSpPr>
          <p:cNvPr id="19" name="Oval 18"/>
          <p:cNvSpPr/>
          <p:nvPr/>
        </p:nvSpPr>
        <p:spPr>
          <a:xfrm>
            <a:off x="6464807" y="3968496"/>
            <a:ext cx="402336" cy="402336"/>
          </a:xfrm>
          <a:prstGeom prst="ellipse">
            <a:avLst/>
          </a:prstGeom>
          <a:noFill/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01383" y="4050791"/>
            <a:ext cx="329184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D6D6D"/>
                </a:solidFill>
                <a:latin typeface="Noto Sans CJK KR"/>
              </a:defRPr>
            </a:pPr>
            <a: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59168" y="3950208"/>
            <a:ext cx="47091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11111"/>
                </a:solidFill>
                <a:latin typeface="Noto Sans CJK KR"/>
              </a:defRPr>
            </a:pPr>
            <a:r>
              <a:t>Background 기술 Summary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68312" y="4407408"/>
            <a:ext cx="4828032" cy="4480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D6D6D"/>
                </a:solidFill>
                <a:latin typeface="Noto Sans CJK KR"/>
              </a:defRPr>
            </a:pPr>
            <a:r>
              <a:t>Setup/Hold · Metastability · Glitch · Fan-out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6D6D6D"/>
                </a:solidFill>
                <a:latin typeface="Noto Sans CJK KR"/>
              </a:defRPr>
            </a:pPr>
            <a:r>
              <a:t>OVERVIEW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94360" y="704088"/>
            <a:ext cx="11000232" cy="0"/>
          </a:xfrm>
          <a:prstGeom prst="line">
            <a:avLst/>
          </a:prstGeom>
          <a:ln w="11430">
            <a:solidFill>
              <a:srgbClr val="D1D1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12648" y="896112"/>
            <a:ext cx="10954512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11111"/>
                </a:solidFill>
                <a:latin typeface="Noto Sans CJK KR"/>
              </a:defRPr>
            </a:pPr>
            <a:r>
              <a:t>01  개요 | 구현 목표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36748"/>
            <a:ext cx="10936224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D6D6D"/>
                </a:solidFill>
                <a:latin typeface="Noto Sans CJK KR"/>
              </a:defRPr>
            </a:pPr>
            <a:r>
              <a:rPr dirty="0" smtClean="0"/>
              <a:t>Basys3 </a:t>
            </a:r>
            <a:r>
              <a:rPr dirty="0" err="1"/>
              <a:t>보드에서</a:t>
            </a:r>
            <a:r>
              <a:rPr dirty="0"/>
              <a:t> CLOCK, STOPWATCH, PAUSE </a:t>
            </a:r>
            <a:r>
              <a:rPr dirty="0" err="1"/>
              <a:t>동작을</a:t>
            </a:r>
            <a:r>
              <a:rPr dirty="0"/>
              <a:t> </a:t>
            </a:r>
            <a:r>
              <a:rPr dirty="0" err="1"/>
              <a:t>전환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841248" y="2029968"/>
            <a:ext cx="4572000" cy="7406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5000" b="1">
                <a:solidFill>
                  <a:srgbClr val="111111"/>
                </a:solidFill>
                <a:latin typeface="Noto Sans CJK KR"/>
              </a:defRPr>
            </a:pPr>
            <a:r>
              <a:rPr dirty="0"/>
              <a:t>100MHz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862072"/>
            <a:ext cx="38404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6D6D6D"/>
                </a:solidFill>
                <a:latin typeface="Noto Sans CJK KR"/>
              </a:defRPr>
            </a:pPr>
            <a:r>
              <a:t>System Clock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650992" y="1911095"/>
            <a:ext cx="0" cy="3255265"/>
          </a:xfrm>
          <a:prstGeom prst="line">
            <a:avLst/>
          </a:prstGeom>
          <a:ln w="12700">
            <a:solidFill>
              <a:srgbClr val="D1D1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5312" y="1993392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11111"/>
                </a:solidFill>
                <a:latin typeface="Noto Sans CJK KR"/>
              </a:defRPr>
            </a:pPr>
            <a:r>
              <a:t>CLOCK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45552" y="1938528"/>
            <a:ext cx="141732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11111"/>
                </a:solidFill>
                <a:latin typeface="Noto Sans CJK KR"/>
              </a:defRPr>
            </a:pPr>
            <a:r>
              <a:t>MM:SS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52744" y="2478024"/>
            <a:ext cx="5230368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D6D6D"/>
                </a:solidFill>
                <a:latin typeface="Noto Sans CJK KR"/>
              </a:defRPr>
            </a:pPr>
            <a:r>
              <a:t>분·초 계수 / 구분점 1초마다 점멸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25312" y="3127248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11111"/>
                </a:solidFill>
                <a:latin typeface="Noto Sans CJK KR"/>
              </a:defRPr>
            </a:pPr>
            <a:r>
              <a:t>STOPWATCH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45552" y="3072384"/>
            <a:ext cx="141732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11111"/>
                </a:solidFill>
                <a:latin typeface="Noto Sans CJK KR"/>
              </a:defRPr>
            </a:pPr>
            <a:r>
              <a:t>SS.CC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52744" y="3611880"/>
            <a:ext cx="5230368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D6D6D"/>
                </a:solidFill>
                <a:latin typeface="Noto Sans CJK KR"/>
              </a:defRPr>
            </a:pPr>
            <a:r>
              <a:t>10ms 해상도 / 시작·초기화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25312" y="4261104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11111"/>
                </a:solidFill>
                <a:latin typeface="Noto Sans CJK KR"/>
              </a:defRPr>
            </a:pPr>
            <a:r>
              <a:t>PAUSE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45552" y="4206240"/>
            <a:ext cx="141732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11111"/>
                </a:solidFill>
                <a:latin typeface="Noto Sans CJK KR"/>
              </a:defRPr>
            </a:pPr>
            <a:r>
              <a:t>SS.CC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52744" y="4745736"/>
            <a:ext cx="5230368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D6D6D"/>
                </a:solidFill>
                <a:latin typeface="Noto Sans CJK KR"/>
              </a:defRPr>
            </a:pPr>
            <a:r>
              <a:t>값 정지 / 5초 무입력 애니메이션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40080" y="6345936"/>
            <a:ext cx="10927080" cy="0"/>
          </a:xfrm>
          <a:prstGeom prst="line">
            <a:avLst/>
          </a:prstGeom>
          <a:ln w="8890">
            <a:solidFill>
              <a:srgbClr val="D1D1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6D6D6D"/>
                </a:solidFill>
                <a:latin typeface="Noto Sans CJK KR"/>
              </a:defRPr>
            </a:pPr>
            <a:r>
              <a:t>OVERVIEW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94360" y="704088"/>
            <a:ext cx="11000232" cy="0"/>
          </a:xfrm>
          <a:prstGeom prst="line">
            <a:avLst/>
          </a:prstGeom>
          <a:ln w="11430">
            <a:solidFill>
              <a:srgbClr val="D1D1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12648" y="896112"/>
            <a:ext cx="10954512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11111"/>
                </a:solidFill>
                <a:latin typeface="Noto Sans CJK KR"/>
              </a:defRPr>
            </a:pPr>
            <a:r>
              <a:t>01  개요 | Basys3 인터페이스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72184"/>
            <a:ext cx="10936224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D6D6D"/>
                </a:solidFill>
                <a:latin typeface="Noto Sans CJK KR"/>
              </a:defRPr>
            </a:pPr>
            <a:r>
              <a:t>버튼 입력은 상태를 변경하고, FND는 모드에 따라 표시 형식을 전환</a:t>
            </a:r>
          </a:p>
        </p:txBody>
      </p:sp>
      <p:sp>
        <p:nvSpPr>
          <p:cNvPr id="7" name="Rectangle 6"/>
          <p:cNvSpPr/>
          <p:nvPr/>
        </p:nvSpPr>
        <p:spPr>
          <a:xfrm>
            <a:off x="749808" y="2011680"/>
            <a:ext cx="10689336" cy="46634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9536" y="2103120"/>
            <a:ext cx="22860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11111"/>
                </a:solidFill>
                <a:latin typeface="Noto Sans CJK KR"/>
              </a:defRPr>
            </a:pPr>
            <a:r>
              <a:t>신호 / 인터페이스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72968" y="2103120"/>
            <a:ext cx="256032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11111"/>
                </a:solidFill>
                <a:latin typeface="Noto Sans CJK KR"/>
              </a:defRPr>
            </a:pPr>
            <a:r>
              <a:t>Pin / 입력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24728" y="210312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11111"/>
                </a:solidFill>
                <a:latin typeface="Noto Sans CJK KR"/>
              </a:defRPr>
            </a:pPr>
            <a:r>
              <a:t>동작 의미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49808" y="2478024"/>
            <a:ext cx="10689336" cy="0"/>
          </a:xfrm>
          <a:prstGeom prst="line">
            <a:avLst/>
          </a:prstGeom>
          <a:ln w="8890">
            <a:solidFill>
              <a:srgbClr val="D1D1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50392" y="2624328"/>
            <a:ext cx="22402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11111"/>
                </a:solidFill>
                <a:latin typeface="Noto Sans CJK KR"/>
              </a:defRPr>
            </a:pPr>
            <a:r>
              <a:t>CLOCK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54680" y="2624328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111111"/>
                </a:solidFill>
                <a:latin typeface="Noto Sans CJK KR"/>
              </a:defRPr>
            </a:pPr>
            <a:r>
              <a:t>W5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06440" y="2624328"/>
            <a:ext cx="5449824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111111"/>
                </a:solidFill>
                <a:latin typeface="Noto Sans CJK KR"/>
              </a:defRPr>
            </a:pPr>
            <a:r>
              <a:t>100MHz 시스템 클럭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49808" y="3090672"/>
            <a:ext cx="10689336" cy="0"/>
          </a:xfrm>
          <a:prstGeom prst="line">
            <a:avLst/>
          </a:prstGeom>
          <a:ln w="8890">
            <a:solidFill>
              <a:srgbClr val="D1D1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50392" y="3236976"/>
            <a:ext cx="22402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11111"/>
                </a:solidFill>
                <a:latin typeface="Noto Sans CJK KR"/>
              </a:defRPr>
            </a:pPr>
            <a:r>
              <a:t>Reset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54680" y="3236976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111111"/>
                </a:solidFill>
                <a:latin typeface="Noto Sans CJK KR"/>
              </a:defRPr>
            </a:pPr>
            <a:r>
              <a:t>SW14 / R2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06440" y="3236976"/>
            <a:ext cx="5449824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111111"/>
                </a:solidFill>
                <a:latin typeface="Noto Sans CJK KR"/>
              </a:defRPr>
            </a:pPr>
            <a:r>
              <a:t>FSM 및 Counter 초기화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49808" y="3703320"/>
            <a:ext cx="10689336" cy="0"/>
          </a:xfrm>
          <a:prstGeom prst="line">
            <a:avLst/>
          </a:prstGeom>
          <a:ln w="8890">
            <a:solidFill>
              <a:srgbClr val="D1D1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50392" y="3849624"/>
            <a:ext cx="22402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11111"/>
                </a:solidFill>
                <a:latin typeface="Noto Sans CJK KR"/>
              </a:defRPr>
            </a:pPr>
            <a:r>
              <a:t>BTNL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54680" y="3849624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111111"/>
                </a:solidFill>
                <a:latin typeface="Noto Sans CJK KR"/>
              </a:defRPr>
            </a:pPr>
            <a:r>
              <a:t>W19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06440" y="3849624"/>
            <a:ext cx="5449824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111111"/>
                </a:solidFill>
                <a:latin typeface="Noto Sans CJK KR"/>
              </a:defRPr>
            </a:pPr>
            <a:r>
              <a:t>CLOCK ↔ STOPWATCH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49808" y="4315968"/>
            <a:ext cx="10689336" cy="0"/>
          </a:xfrm>
          <a:prstGeom prst="line">
            <a:avLst/>
          </a:prstGeom>
          <a:ln w="8890">
            <a:solidFill>
              <a:srgbClr val="D1D1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850392" y="4462272"/>
            <a:ext cx="22402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11111"/>
                </a:solidFill>
                <a:latin typeface="Noto Sans CJK KR"/>
              </a:defRPr>
            </a:pPr>
            <a:r>
              <a:t>BTNR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54680" y="4462272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111111"/>
                </a:solidFill>
                <a:latin typeface="Noto Sans CJK KR"/>
              </a:defRPr>
            </a:pPr>
            <a:r>
              <a:t>T17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06440" y="4462272"/>
            <a:ext cx="5449824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111111"/>
                </a:solidFill>
                <a:latin typeface="Noto Sans CJK KR"/>
              </a:defRPr>
            </a:pPr>
            <a:r>
              <a:t>STOPWATCH ↔ PAUSE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49808" y="4928616"/>
            <a:ext cx="10689336" cy="0"/>
          </a:xfrm>
          <a:prstGeom prst="line">
            <a:avLst/>
          </a:prstGeom>
          <a:ln w="8890">
            <a:solidFill>
              <a:srgbClr val="D1D1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850392" y="5074920"/>
            <a:ext cx="22402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11111"/>
                </a:solidFill>
                <a:latin typeface="Noto Sans CJK KR"/>
              </a:defRPr>
            </a:pPr>
            <a:r>
              <a:t>BTNC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54680" y="5074920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111111"/>
                </a:solidFill>
                <a:latin typeface="Noto Sans CJK KR"/>
              </a:defRPr>
            </a:pPr>
            <a:r>
              <a:t>U18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06440" y="5074920"/>
            <a:ext cx="5449824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111111"/>
                </a:solidFill>
                <a:latin typeface="Noto Sans CJK KR"/>
              </a:defRPr>
            </a:pPr>
            <a:r>
              <a:t>STOPWATCH 모드에서 초기화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49808" y="5541264"/>
            <a:ext cx="10689336" cy="0"/>
          </a:xfrm>
          <a:prstGeom prst="line">
            <a:avLst/>
          </a:prstGeom>
          <a:ln w="8890">
            <a:solidFill>
              <a:srgbClr val="D1D1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850392" y="5687568"/>
            <a:ext cx="22402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11111"/>
                </a:solidFill>
                <a:latin typeface="Noto Sans CJK KR"/>
              </a:defRPr>
            </a:pPr>
            <a:r>
              <a:t>FND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154680" y="5687568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111111"/>
                </a:solidFill>
                <a:latin typeface="Noto Sans CJK KR"/>
              </a:defRPr>
            </a:pPr>
            <a:r>
              <a:t>an[3:0], seg[7:0]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06440" y="5687568"/>
            <a:ext cx="5449824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111111"/>
                </a:solidFill>
                <a:latin typeface="Noto Sans CJK KR"/>
              </a:defRPr>
            </a:pPr>
            <a:r>
              <a:t>Active Low · 4자리 표시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749808" y="6153912"/>
            <a:ext cx="10689336" cy="0"/>
          </a:xfrm>
          <a:prstGeom prst="line">
            <a:avLst/>
          </a:prstGeom>
          <a:ln w="8890">
            <a:solidFill>
              <a:srgbClr val="D1D1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640080" y="6345936"/>
            <a:ext cx="10927080" cy="0"/>
          </a:xfrm>
          <a:prstGeom prst="line">
            <a:avLst/>
          </a:prstGeom>
          <a:ln w="8890">
            <a:solidFill>
              <a:srgbClr val="D1D1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6D6D6D"/>
                </a:solidFill>
                <a:latin typeface="Noto Sans CJK KR"/>
              </a:defRPr>
            </a:pPr>
            <a:r>
              <a:t>IMPLEMENTATION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94360" y="704088"/>
            <a:ext cx="11000232" cy="0"/>
          </a:xfrm>
          <a:prstGeom prst="line">
            <a:avLst/>
          </a:prstGeom>
          <a:ln w="11430">
            <a:solidFill>
              <a:srgbClr val="D1D1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12648" y="896112"/>
            <a:ext cx="10954512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11111"/>
                </a:solidFill>
                <a:latin typeface="Noto Sans CJK KR"/>
              </a:defRPr>
            </a:pPr>
            <a:r>
              <a:t>02  구현 내용 | System Block Diagram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72184"/>
            <a:ext cx="10936224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D6D6D"/>
                </a:solidFill>
                <a:latin typeface="Noto Sans CJK KR"/>
              </a:defRPr>
            </a:pPr>
            <a:r>
              <a:t>데이터 흐름·제어 신호·디스플레이 출력 경로를 분리한 상위 RTL 구조</a:t>
            </a:r>
          </a:p>
        </p:txBody>
      </p:sp>
      <p:sp>
        <p:nvSpPr>
          <p:cNvPr id="7" name="Rectangle 6"/>
          <p:cNvSpPr/>
          <p:nvPr/>
        </p:nvSpPr>
        <p:spPr>
          <a:xfrm>
            <a:off x="694944" y="2139696"/>
            <a:ext cx="1353312" cy="786384"/>
          </a:xfrm>
          <a:prstGeom prst="rect">
            <a:avLst/>
          </a:prstGeom>
          <a:solidFill>
            <a:srgbClr val="FFFFFF"/>
          </a:solidFill>
          <a:ln w="10795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40664" y="2267712"/>
            <a:ext cx="126187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11111"/>
                </a:solidFill>
                <a:latin typeface="Noto Sans CJK KR"/>
              </a:defRPr>
            </a:pPr>
            <a:r>
              <a:t>BTNL/C/R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" y="2587752"/>
            <a:ext cx="1261872" cy="2103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D6D6D"/>
                </a:solidFill>
                <a:latin typeface="Noto Sans CJK KR"/>
              </a:defRPr>
            </a:pPr>
            <a:r>
              <a:t>3개 물리 버튼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59152" y="2139696"/>
            <a:ext cx="1399032" cy="786384"/>
          </a:xfrm>
          <a:prstGeom prst="rect">
            <a:avLst/>
          </a:prstGeom>
          <a:solidFill>
            <a:srgbClr val="FFFFFF"/>
          </a:solidFill>
          <a:ln w="10795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404872" y="2267712"/>
            <a:ext cx="130759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11111"/>
                </a:solidFill>
                <a:latin typeface="Noto Sans CJK KR"/>
              </a:defRPr>
            </a:pPr>
            <a:r>
              <a:t>Debouncer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04872" y="2587752"/>
            <a:ext cx="1307592" cy="2103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D6D6D"/>
                </a:solidFill>
                <a:latin typeface="Noto Sans CJK KR"/>
              </a:defRPr>
            </a:pPr>
            <a:r>
              <a:t>clean_btn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69080" y="2139696"/>
            <a:ext cx="1344168" cy="786384"/>
          </a:xfrm>
          <a:prstGeom prst="rect">
            <a:avLst/>
          </a:prstGeom>
          <a:solidFill>
            <a:srgbClr val="FFFFFF"/>
          </a:solidFill>
          <a:ln w="10795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114800" y="2267712"/>
            <a:ext cx="1252728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11111"/>
                </a:solidFill>
                <a:latin typeface="Noto Sans CJK KR"/>
              </a:defRPr>
            </a:pPr>
            <a:r>
              <a:t>Edge Detect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2587752"/>
            <a:ext cx="1252728" cy="2103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D6D6D"/>
                </a:solidFill>
                <a:latin typeface="Noto Sans CJK KR"/>
              </a:defRPr>
            </a:pPr>
            <a:r>
              <a:t>btn_pulse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60720" y="2139696"/>
            <a:ext cx="1417320" cy="786384"/>
          </a:xfrm>
          <a:prstGeom prst="rect">
            <a:avLst/>
          </a:prstGeom>
          <a:solidFill>
            <a:srgbClr val="FFFFFF"/>
          </a:solidFill>
          <a:ln w="10795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806440" y="2267712"/>
            <a:ext cx="132588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11111"/>
                </a:solidFill>
                <a:latin typeface="Noto Sans CJK KR"/>
              </a:defRPr>
            </a:pPr>
            <a:r>
              <a:t>Mode FSM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06440" y="2587752"/>
            <a:ext cx="1325880" cy="2103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D6D6D"/>
                </a:solidFill>
                <a:latin typeface="Noto Sans CJK KR"/>
              </a:defRPr>
            </a:pPr>
            <a:r>
              <a:t>mode, sw_run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048256" y="2542032"/>
            <a:ext cx="310896" cy="0"/>
          </a:xfrm>
          <a:prstGeom prst="line">
            <a:avLst/>
          </a:prstGeom>
          <a:ln w="16510">
            <a:solidFill>
              <a:srgbClr val="2424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2287392" y="2542032"/>
            <a:ext cx="71760" cy="40289"/>
          </a:xfrm>
          <a:prstGeom prst="line">
            <a:avLst/>
          </a:prstGeom>
          <a:ln w="16510">
            <a:solidFill>
              <a:srgbClr val="2424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 flipV="1">
            <a:off x="2287392" y="2501742"/>
            <a:ext cx="71760" cy="40290"/>
          </a:xfrm>
          <a:prstGeom prst="line">
            <a:avLst/>
          </a:prstGeom>
          <a:ln w="16510">
            <a:solidFill>
              <a:srgbClr val="2424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3758184" y="2542032"/>
            <a:ext cx="310896" cy="0"/>
          </a:xfrm>
          <a:prstGeom prst="line">
            <a:avLst/>
          </a:prstGeom>
          <a:ln w="16510">
            <a:solidFill>
              <a:srgbClr val="2424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3997320" y="2542032"/>
            <a:ext cx="71760" cy="40289"/>
          </a:xfrm>
          <a:prstGeom prst="line">
            <a:avLst/>
          </a:prstGeom>
          <a:ln w="16510">
            <a:solidFill>
              <a:srgbClr val="2424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 flipV="1">
            <a:off x="3997320" y="2501742"/>
            <a:ext cx="71760" cy="40290"/>
          </a:xfrm>
          <a:prstGeom prst="line">
            <a:avLst/>
          </a:prstGeom>
          <a:ln w="16510">
            <a:solidFill>
              <a:srgbClr val="2424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413248" y="2542032"/>
            <a:ext cx="347472" cy="0"/>
          </a:xfrm>
          <a:prstGeom prst="line">
            <a:avLst/>
          </a:prstGeom>
          <a:ln w="16510">
            <a:solidFill>
              <a:srgbClr val="2424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5688960" y="2542032"/>
            <a:ext cx="71760" cy="40289"/>
          </a:xfrm>
          <a:prstGeom prst="line">
            <a:avLst/>
          </a:prstGeom>
          <a:ln w="16510">
            <a:solidFill>
              <a:srgbClr val="2424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 flipV="1">
            <a:off x="5688960" y="2501742"/>
            <a:ext cx="71760" cy="40290"/>
          </a:xfrm>
          <a:prstGeom prst="line">
            <a:avLst/>
          </a:prstGeom>
          <a:ln w="16510">
            <a:solidFill>
              <a:srgbClr val="2424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694944" y="4160520"/>
            <a:ext cx="1353312" cy="786384"/>
          </a:xfrm>
          <a:prstGeom prst="rect">
            <a:avLst/>
          </a:prstGeom>
          <a:solidFill>
            <a:srgbClr val="FFFFFF"/>
          </a:solidFill>
          <a:ln w="10795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40664" y="4288536"/>
            <a:ext cx="126187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11111"/>
                </a:solidFill>
                <a:latin typeface="Noto Sans CJK KR"/>
              </a:defRPr>
            </a:pPr>
            <a:r>
              <a:t>100MHz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0664" y="4608576"/>
            <a:ext cx="1261872" cy="2103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D6D6D"/>
                </a:solidFill>
                <a:latin typeface="Noto Sans CJK KR"/>
              </a:defRPr>
            </a:pPr>
            <a:r>
              <a:t>clk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359152" y="4160520"/>
            <a:ext cx="1399032" cy="786384"/>
          </a:xfrm>
          <a:prstGeom prst="rect">
            <a:avLst/>
          </a:prstGeom>
          <a:solidFill>
            <a:srgbClr val="FFFFFF"/>
          </a:solidFill>
          <a:ln w="10795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404872" y="4288536"/>
            <a:ext cx="130759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11111"/>
                </a:solidFill>
                <a:latin typeface="Noto Sans CJK KR"/>
              </a:defRPr>
            </a:pPr>
            <a:r>
              <a:t>Tick Gen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404872" y="4608576"/>
            <a:ext cx="1307592" cy="2103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D6D6D"/>
                </a:solidFill>
                <a:latin typeface="Noto Sans CJK KR"/>
              </a:defRPr>
            </a:pPr>
            <a:r>
              <a:t>10ms / 1ms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069080" y="4160520"/>
            <a:ext cx="1344168" cy="786384"/>
          </a:xfrm>
          <a:prstGeom prst="rect">
            <a:avLst/>
          </a:prstGeom>
          <a:solidFill>
            <a:srgbClr val="FFFFFF"/>
          </a:solidFill>
          <a:ln w="10795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114800" y="4288536"/>
            <a:ext cx="1252728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11111"/>
                </a:solidFill>
                <a:latin typeface="Noto Sans CJK KR"/>
              </a:defRPr>
            </a:pPr>
            <a:r>
              <a:t>Counter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800" y="4608576"/>
            <a:ext cx="1252728" cy="2103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D6D6D"/>
                </a:solidFill>
                <a:latin typeface="Noto Sans CJK KR"/>
              </a:defRPr>
            </a:pPr>
            <a:r>
              <a:t>MM:SS/SS.CC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760720" y="4160520"/>
            <a:ext cx="1417320" cy="786384"/>
          </a:xfrm>
          <a:prstGeom prst="rect">
            <a:avLst/>
          </a:prstGeom>
          <a:solidFill>
            <a:srgbClr val="FFFFFF"/>
          </a:solidFill>
          <a:ln w="10795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806440" y="4288536"/>
            <a:ext cx="132588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11111"/>
                </a:solidFill>
                <a:latin typeface="Noto Sans CJK KR"/>
              </a:defRPr>
            </a:pPr>
            <a:r>
              <a:t>BCD / MUX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06440" y="4608576"/>
            <a:ext cx="1325880" cy="2103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D6D6D"/>
                </a:solidFill>
                <a:latin typeface="Noto Sans CJK KR"/>
              </a:defRPr>
            </a:pPr>
            <a:r>
              <a:t>display_bcd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2048256" y="4562856"/>
            <a:ext cx="310896" cy="0"/>
          </a:xfrm>
          <a:prstGeom prst="line">
            <a:avLst/>
          </a:prstGeom>
          <a:ln w="16510">
            <a:solidFill>
              <a:srgbClr val="2424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H="1">
            <a:off x="2287392" y="4562856"/>
            <a:ext cx="71760" cy="40289"/>
          </a:xfrm>
          <a:prstGeom prst="line">
            <a:avLst/>
          </a:prstGeom>
          <a:ln w="16510">
            <a:solidFill>
              <a:srgbClr val="2424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H="1" flipV="1">
            <a:off x="2287392" y="4522566"/>
            <a:ext cx="71760" cy="40290"/>
          </a:xfrm>
          <a:prstGeom prst="line">
            <a:avLst/>
          </a:prstGeom>
          <a:ln w="16510">
            <a:solidFill>
              <a:srgbClr val="2424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3758184" y="4562856"/>
            <a:ext cx="310896" cy="0"/>
          </a:xfrm>
          <a:prstGeom prst="line">
            <a:avLst/>
          </a:prstGeom>
          <a:ln w="16510">
            <a:solidFill>
              <a:srgbClr val="2424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H="1">
            <a:off x="3997320" y="4562856"/>
            <a:ext cx="71760" cy="40289"/>
          </a:xfrm>
          <a:prstGeom prst="line">
            <a:avLst/>
          </a:prstGeom>
          <a:ln w="16510">
            <a:solidFill>
              <a:srgbClr val="2424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H="1" flipV="1">
            <a:off x="3997320" y="4522566"/>
            <a:ext cx="71760" cy="40290"/>
          </a:xfrm>
          <a:prstGeom prst="line">
            <a:avLst/>
          </a:prstGeom>
          <a:ln w="16510">
            <a:solidFill>
              <a:srgbClr val="2424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5413248" y="4562856"/>
            <a:ext cx="347472" cy="0"/>
          </a:xfrm>
          <a:prstGeom prst="line">
            <a:avLst/>
          </a:prstGeom>
          <a:ln w="16510">
            <a:solidFill>
              <a:srgbClr val="2424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H="1">
            <a:off x="5688960" y="4562856"/>
            <a:ext cx="71760" cy="40289"/>
          </a:xfrm>
          <a:prstGeom prst="line">
            <a:avLst/>
          </a:prstGeom>
          <a:ln w="16510">
            <a:solidFill>
              <a:srgbClr val="2424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H="1" flipV="1">
            <a:off x="5688960" y="4522566"/>
            <a:ext cx="71760" cy="40290"/>
          </a:xfrm>
          <a:prstGeom prst="line">
            <a:avLst/>
          </a:prstGeom>
          <a:ln w="16510">
            <a:solidFill>
              <a:srgbClr val="2424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 48"/>
          <p:cNvSpPr/>
          <p:nvPr/>
        </p:nvSpPr>
        <p:spPr>
          <a:xfrm>
            <a:off x="9198864" y="2980944"/>
            <a:ext cx="1463040" cy="786384"/>
          </a:xfrm>
          <a:prstGeom prst="rect">
            <a:avLst/>
          </a:prstGeom>
          <a:solidFill>
            <a:srgbClr val="FFFFFF"/>
          </a:solidFill>
          <a:ln w="10795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9244584" y="3108960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11111"/>
                </a:solidFill>
                <a:latin typeface="Noto Sans CJK KR"/>
              </a:defRPr>
            </a:pPr>
            <a:r>
              <a:t>FND Ctrl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244584" y="3429000"/>
            <a:ext cx="1371600" cy="2103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D6D6D"/>
                </a:solidFill>
                <a:latin typeface="Noto Sans CJK KR"/>
              </a:defRPr>
            </a:pPr>
            <a:r>
              <a:t>scan / override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0991088" y="2980944"/>
            <a:ext cx="896112" cy="786384"/>
          </a:xfrm>
          <a:prstGeom prst="rect">
            <a:avLst/>
          </a:prstGeom>
          <a:solidFill>
            <a:srgbClr val="FFFFFF"/>
          </a:solidFill>
          <a:ln w="10795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11036808" y="3108960"/>
            <a:ext cx="80467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11111"/>
                </a:solidFill>
                <a:latin typeface="Noto Sans CJK KR"/>
              </a:defRPr>
            </a:pPr>
            <a:r>
              <a:t>FND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036808" y="3429000"/>
            <a:ext cx="804672" cy="2103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D6D6D"/>
                </a:solidFill>
                <a:latin typeface="Noto Sans CJK KR"/>
              </a:defRPr>
            </a:pPr>
            <a:r>
              <a:t>4digit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10661904" y="3383280"/>
            <a:ext cx="329184" cy="0"/>
          </a:xfrm>
          <a:prstGeom prst="line">
            <a:avLst/>
          </a:prstGeom>
          <a:ln w="16510">
            <a:solidFill>
              <a:srgbClr val="2424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H="1">
            <a:off x="10919328" y="3383280"/>
            <a:ext cx="71760" cy="40289"/>
          </a:xfrm>
          <a:prstGeom prst="line">
            <a:avLst/>
          </a:prstGeom>
          <a:ln w="16510">
            <a:solidFill>
              <a:srgbClr val="2424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H="1" flipV="1">
            <a:off x="10919328" y="3342990"/>
            <a:ext cx="71760" cy="40290"/>
          </a:xfrm>
          <a:prstGeom prst="line">
            <a:avLst/>
          </a:prstGeom>
          <a:ln w="16510">
            <a:solidFill>
              <a:srgbClr val="2424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7187184" y="3429000"/>
            <a:ext cx="2011680" cy="1097280"/>
          </a:xfrm>
          <a:prstGeom prst="line">
            <a:avLst/>
          </a:prstGeom>
          <a:ln w="16510">
            <a:solidFill>
              <a:srgbClr val="2424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H="1">
            <a:off x="9155159" y="3429000"/>
            <a:ext cx="43705" cy="69731"/>
          </a:xfrm>
          <a:prstGeom prst="line">
            <a:avLst/>
          </a:prstGeom>
          <a:ln w="16510">
            <a:solidFill>
              <a:srgbClr val="2424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H="1" flipV="1">
            <a:off x="9116574" y="3427992"/>
            <a:ext cx="82290" cy="1008"/>
          </a:xfrm>
          <a:prstGeom prst="line">
            <a:avLst/>
          </a:prstGeom>
          <a:ln w="16510">
            <a:solidFill>
              <a:srgbClr val="2424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Rectangle 60"/>
          <p:cNvSpPr/>
          <p:nvPr/>
        </p:nvSpPr>
        <p:spPr>
          <a:xfrm>
            <a:off x="7507224" y="2148840"/>
            <a:ext cx="1399032" cy="786384"/>
          </a:xfrm>
          <a:prstGeom prst="rect">
            <a:avLst/>
          </a:prstGeom>
          <a:solidFill>
            <a:srgbClr val="FFFFFF"/>
          </a:solidFill>
          <a:ln w="10795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7552944" y="2276856"/>
            <a:ext cx="130759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11111"/>
                </a:solidFill>
                <a:latin typeface="Noto Sans CJK KR"/>
              </a:defRPr>
            </a:pPr>
            <a:r>
              <a:t>Animation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552944" y="2596896"/>
            <a:ext cx="1307592" cy="2103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D6D6D"/>
                </a:solidFill>
                <a:latin typeface="Noto Sans CJK KR"/>
              </a:defRPr>
            </a:pPr>
            <a:r>
              <a:t>active / step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7178040" y="2542032"/>
            <a:ext cx="329184" cy="0"/>
          </a:xfrm>
          <a:prstGeom prst="line">
            <a:avLst/>
          </a:prstGeom>
          <a:ln w="16510">
            <a:solidFill>
              <a:srgbClr val="2424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H="1">
            <a:off x="7435464" y="2542032"/>
            <a:ext cx="71760" cy="40289"/>
          </a:xfrm>
          <a:prstGeom prst="line">
            <a:avLst/>
          </a:prstGeom>
          <a:ln w="16510">
            <a:solidFill>
              <a:srgbClr val="2424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H="1" flipV="1">
            <a:off x="7435464" y="2501742"/>
            <a:ext cx="71760" cy="40290"/>
          </a:xfrm>
          <a:prstGeom prst="line">
            <a:avLst/>
          </a:prstGeom>
          <a:ln w="16510">
            <a:solidFill>
              <a:srgbClr val="2424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8906256" y="2569464"/>
            <a:ext cx="384048" cy="393192"/>
          </a:xfrm>
          <a:prstGeom prst="line">
            <a:avLst/>
          </a:prstGeom>
          <a:ln w="16510">
            <a:solidFill>
              <a:srgbClr val="2424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H="1" flipV="1">
            <a:off x="9211340" y="2939472"/>
            <a:ext cx="78964" cy="23184"/>
          </a:xfrm>
          <a:prstGeom prst="line">
            <a:avLst/>
          </a:prstGeom>
          <a:ln w="16510">
            <a:solidFill>
              <a:srgbClr val="2424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H="1" flipV="1">
            <a:off x="9268984" y="2883169"/>
            <a:ext cx="21320" cy="79487"/>
          </a:xfrm>
          <a:prstGeom prst="line">
            <a:avLst/>
          </a:prstGeom>
          <a:ln w="16510">
            <a:solidFill>
              <a:srgbClr val="2424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6272784" y="2935224"/>
            <a:ext cx="0" cy="374904"/>
          </a:xfrm>
          <a:prstGeom prst="line">
            <a:avLst/>
          </a:prstGeom>
          <a:ln w="15240">
            <a:solidFill>
              <a:srgbClr val="6D6D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H="1">
            <a:off x="4754880" y="3310128"/>
            <a:ext cx="1517904" cy="0"/>
          </a:xfrm>
          <a:prstGeom prst="line">
            <a:avLst/>
          </a:prstGeom>
          <a:ln w="15240">
            <a:solidFill>
              <a:srgbClr val="6D6D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4754880" y="3310128"/>
            <a:ext cx="0" cy="841248"/>
          </a:xfrm>
          <a:prstGeom prst="line">
            <a:avLst/>
          </a:prstGeom>
          <a:ln w="15240">
            <a:solidFill>
              <a:srgbClr val="6D6D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TextBox 72"/>
          <p:cNvSpPr txBox="1"/>
          <p:nvPr/>
        </p:nvSpPr>
        <p:spPr>
          <a:xfrm>
            <a:off x="4800600" y="3072384"/>
            <a:ext cx="155448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D6D6D"/>
                </a:solidFill>
                <a:latin typeface="Noto Sans CJK KR"/>
              </a:defRPr>
            </a:pPr>
            <a:r>
              <a:t>sw_run / clear</a:t>
            </a:r>
          </a:p>
        </p:txBody>
      </p:sp>
      <p:cxnSp>
        <p:nvCxnSpPr>
          <p:cNvPr id="74" name="Connector 73"/>
          <p:cNvCxnSpPr/>
          <p:nvPr/>
        </p:nvCxnSpPr>
        <p:spPr>
          <a:xfrm flipV="1">
            <a:off x="3072384" y="3474720"/>
            <a:ext cx="0" cy="658367"/>
          </a:xfrm>
          <a:prstGeom prst="line">
            <a:avLst/>
          </a:prstGeom>
          <a:ln w="13970">
            <a:solidFill>
              <a:srgbClr val="6D6D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3072384" y="3474720"/>
            <a:ext cx="5129784" cy="0"/>
          </a:xfrm>
          <a:prstGeom prst="line">
            <a:avLst/>
          </a:prstGeom>
          <a:ln w="13970">
            <a:solidFill>
              <a:srgbClr val="6D6D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8202168" y="2944368"/>
            <a:ext cx="0" cy="530352"/>
          </a:xfrm>
          <a:prstGeom prst="line">
            <a:avLst/>
          </a:prstGeom>
          <a:ln w="13970">
            <a:solidFill>
              <a:srgbClr val="6D6D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/>
          <p:cNvSpPr txBox="1"/>
          <p:nvPr/>
        </p:nvSpPr>
        <p:spPr>
          <a:xfrm>
            <a:off x="6821424" y="3218688"/>
            <a:ext cx="1179576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D6D6D"/>
                </a:solidFill>
                <a:latin typeface="Noto Sans CJK KR"/>
              </a:defRPr>
            </a:pPr>
            <a:r>
              <a:t>tick_10ms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3063240" y="4974336"/>
            <a:ext cx="0" cy="301752"/>
          </a:xfrm>
          <a:prstGeom prst="line">
            <a:avLst/>
          </a:prstGeom>
          <a:ln w="13970">
            <a:solidFill>
              <a:srgbClr val="6D6D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3063240" y="5276088"/>
            <a:ext cx="6821424" cy="0"/>
          </a:xfrm>
          <a:prstGeom prst="line">
            <a:avLst/>
          </a:prstGeom>
          <a:ln w="13970">
            <a:solidFill>
              <a:srgbClr val="6D6D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9884664" y="3767328"/>
            <a:ext cx="0" cy="1508760"/>
          </a:xfrm>
          <a:prstGeom prst="line">
            <a:avLst/>
          </a:prstGeom>
          <a:ln w="13970">
            <a:solidFill>
              <a:srgbClr val="6D6D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TextBox 80"/>
          <p:cNvSpPr txBox="1"/>
          <p:nvPr/>
        </p:nvSpPr>
        <p:spPr>
          <a:xfrm>
            <a:off x="7196328" y="5029200"/>
            <a:ext cx="2313432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D6D6D"/>
                </a:solidFill>
                <a:latin typeface="Noto Sans CJK KR"/>
              </a:defRPr>
            </a:pPr>
            <a:r>
              <a:t>tick_1ms → FND scan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77240" y="5660136"/>
            <a:ext cx="106070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11111"/>
                </a:solidFill>
                <a:latin typeface="Noto Sans CJK KR"/>
              </a:defRPr>
            </a:pPr>
            <a:r>
              <a:t>Animation Controller는 숫자 선택 MUX를 거치지 않고 FND 출력에 직접 연결</a:t>
            </a:r>
          </a:p>
        </p:txBody>
      </p:sp>
      <p:cxnSp>
        <p:nvCxnSpPr>
          <p:cNvPr id="83" name="Connector 82"/>
          <p:cNvCxnSpPr/>
          <p:nvPr/>
        </p:nvCxnSpPr>
        <p:spPr>
          <a:xfrm>
            <a:off x="640080" y="6345936"/>
            <a:ext cx="10927080" cy="0"/>
          </a:xfrm>
          <a:prstGeom prst="line">
            <a:avLst/>
          </a:prstGeom>
          <a:ln w="8890">
            <a:solidFill>
              <a:srgbClr val="D1D1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6D6D6D"/>
                </a:solidFill>
                <a:latin typeface="Noto Sans CJK KR"/>
              </a:defRPr>
            </a:pPr>
            <a:r>
              <a:t>IMPLEMENTATION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94360" y="704088"/>
            <a:ext cx="11000232" cy="0"/>
          </a:xfrm>
          <a:prstGeom prst="line">
            <a:avLst/>
          </a:prstGeom>
          <a:ln w="11430">
            <a:solidFill>
              <a:srgbClr val="D1D1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12648" y="896112"/>
            <a:ext cx="10954512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11111"/>
                </a:solidFill>
                <a:latin typeface="Noto Sans CJK KR"/>
              </a:defRPr>
            </a:pPr>
            <a:r>
              <a:t>02  구현 내용 | 3-State FSM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72184"/>
            <a:ext cx="10936224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D6D6D"/>
                </a:solidFill>
                <a:latin typeface="Noto Sans CJK KR"/>
              </a:defRPr>
            </a:pPr>
            <a:r>
              <a:t>Left: CLOCK ↔ STOPWATCH / Right: STOPWATCH ↔ PAUSE / Center: CLEAR 신호만 생성</a:t>
            </a:r>
          </a:p>
        </p:txBody>
      </p:sp>
      <p:sp>
        <p:nvSpPr>
          <p:cNvPr id="7" name="Oval 6"/>
          <p:cNvSpPr/>
          <p:nvPr/>
        </p:nvSpPr>
        <p:spPr>
          <a:xfrm>
            <a:off x="1005840" y="2404872"/>
            <a:ext cx="2112264" cy="211226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424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3000" y="2926080"/>
            <a:ext cx="1828800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11111"/>
                </a:solidFill>
                <a:latin typeface="Noto Sans CJK KR"/>
              </a:defRPr>
            </a:pPr>
            <a:r>
              <a:t>S_CLOCK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16736" y="3392424"/>
            <a:ext cx="1481328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6D6D6D"/>
                </a:solidFill>
                <a:latin typeface="Noto Sans CJK KR"/>
              </a:defRPr>
            </a:pPr>
            <a:r>
              <a:t>00</a:t>
            </a:r>
          </a:p>
        </p:txBody>
      </p:sp>
      <p:sp>
        <p:nvSpPr>
          <p:cNvPr id="10" name="Oval 9"/>
          <p:cNvSpPr/>
          <p:nvPr/>
        </p:nvSpPr>
        <p:spPr>
          <a:xfrm>
            <a:off x="4965192" y="2404872"/>
            <a:ext cx="2112264" cy="211226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424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102352" y="2926080"/>
            <a:ext cx="1828800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11111"/>
                </a:solidFill>
                <a:latin typeface="Noto Sans CJK KR"/>
              </a:defRPr>
            </a:pPr>
            <a:r>
              <a:t>S_STOPWATCH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76088" y="3392424"/>
            <a:ext cx="1481328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6D6D6D"/>
                </a:solidFill>
                <a:latin typeface="Noto Sans CJK KR"/>
              </a:defRPr>
            </a:pPr>
            <a:r>
              <a:t>01</a:t>
            </a:r>
          </a:p>
        </p:txBody>
      </p:sp>
      <p:sp>
        <p:nvSpPr>
          <p:cNvPr id="13" name="Oval 12"/>
          <p:cNvSpPr/>
          <p:nvPr/>
        </p:nvSpPr>
        <p:spPr>
          <a:xfrm>
            <a:off x="8933688" y="2404872"/>
            <a:ext cx="2112264" cy="211226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424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070848" y="2926080"/>
            <a:ext cx="1828800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11111"/>
                </a:solidFill>
                <a:latin typeface="Noto Sans CJK KR"/>
              </a:defRPr>
            </a:pPr>
            <a:r>
              <a:t>S_PAUSE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44584" y="3392424"/>
            <a:ext cx="1481328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6D6D6D"/>
                </a:solidFill>
                <a:latin typeface="Noto Sans CJK KR"/>
              </a:defRPr>
            </a:pPr>
            <a:r>
              <a:t>10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127248" y="2907792"/>
            <a:ext cx="1801368" cy="0"/>
          </a:xfrm>
          <a:prstGeom prst="line">
            <a:avLst/>
          </a:prstGeom>
          <a:ln w="16510">
            <a:solidFill>
              <a:srgbClr val="2424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4856856" y="2907792"/>
            <a:ext cx="71760" cy="40289"/>
          </a:xfrm>
          <a:prstGeom prst="line">
            <a:avLst/>
          </a:prstGeom>
          <a:ln w="16510">
            <a:solidFill>
              <a:srgbClr val="2424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 flipV="1">
            <a:off x="4856856" y="2867502"/>
            <a:ext cx="71760" cy="40290"/>
          </a:xfrm>
          <a:prstGeom prst="line">
            <a:avLst/>
          </a:prstGeom>
          <a:ln w="16510">
            <a:solidFill>
              <a:srgbClr val="2424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3657600" y="2542032"/>
            <a:ext cx="82296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11111"/>
                </a:solidFill>
                <a:latin typeface="Noto Sans CJK KR"/>
              </a:defRPr>
            </a:pPr>
            <a:r>
              <a:t>BTNL</a:t>
            </a:r>
          </a:p>
        </p:txBody>
      </p:sp>
      <p:cxnSp>
        <p:nvCxnSpPr>
          <p:cNvPr id="20" name="Connector 19"/>
          <p:cNvCxnSpPr/>
          <p:nvPr/>
        </p:nvCxnSpPr>
        <p:spPr>
          <a:xfrm flipH="1">
            <a:off x="3145536" y="3822191"/>
            <a:ext cx="1801368" cy="0"/>
          </a:xfrm>
          <a:prstGeom prst="line">
            <a:avLst/>
          </a:prstGeom>
          <a:ln w="16510">
            <a:solidFill>
              <a:srgbClr val="2424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3145536" y="3781902"/>
            <a:ext cx="71759" cy="40289"/>
          </a:xfrm>
          <a:prstGeom prst="line">
            <a:avLst/>
          </a:prstGeom>
          <a:ln w="16510">
            <a:solidFill>
              <a:srgbClr val="2424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3145536" y="3822191"/>
            <a:ext cx="71759" cy="40290"/>
          </a:xfrm>
          <a:prstGeom prst="line">
            <a:avLst/>
          </a:prstGeom>
          <a:ln w="16510">
            <a:solidFill>
              <a:srgbClr val="2424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639312" y="3931920"/>
            <a:ext cx="82296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11111"/>
                </a:solidFill>
                <a:latin typeface="Noto Sans CJK KR"/>
              </a:defRPr>
            </a:pPr>
            <a:r>
              <a:t>BTNL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77456" y="2907792"/>
            <a:ext cx="1819656" cy="0"/>
          </a:xfrm>
          <a:prstGeom prst="line">
            <a:avLst/>
          </a:prstGeom>
          <a:ln w="16510">
            <a:solidFill>
              <a:srgbClr val="2424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8825352" y="2907792"/>
            <a:ext cx="71760" cy="40289"/>
          </a:xfrm>
          <a:prstGeom prst="line">
            <a:avLst/>
          </a:prstGeom>
          <a:ln w="16510">
            <a:solidFill>
              <a:srgbClr val="2424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 flipV="1">
            <a:off x="8825352" y="2867502"/>
            <a:ext cx="71760" cy="40290"/>
          </a:xfrm>
          <a:prstGeom prst="line">
            <a:avLst/>
          </a:prstGeom>
          <a:ln w="16510">
            <a:solidFill>
              <a:srgbClr val="2424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7653527" y="2542032"/>
            <a:ext cx="82296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11111"/>
                </a:solidFill>
                <a:latin typeface="Noto Sans CJK KR"/>
              </a:defRPr>
            </a:pPr>
            <a:r>
              <a:t>BTNR</a:t>
            </a:r>
          </a:p>
        </p:txBody>
      </p:sp>
      <p:cxnSp>
        <p:nvCxnSpPr>
          <p:cNvPr id="28" name="Connector 27"/>
          <p:cNvCxnSpPr/>
          <p:nvPr/>
        </p:nvCxnSpPr>
        <p:spPr>
          <a:xfrm flipH="1">
            <a:off x="7095744" y="3822191"/>
            <a:ext cx="1819656" cy="0"/>
          </a:xfrm>
          <a:prstGeom prst="line">
            <a:avLst/>
          </a:prstGeom>
          <a:ln w="16510">
            <a:solidFill>
              <a:srgbClr val="2424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7095744" y="3781902"/>
            <a:ext cx="71759" cy="40289"/>
          </a:xfrm>
          <a:prstGeom prst="line">
            <a:avLst/>
          </a:prstGeom>
          <a:ln w="16510">
            <a:solidFill>
              <a:srgbClr val="2424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7095744" y="3822191"/>
            <a:ext cx="71759" cy="40290"/>
          </a:xfrm>
          <a:prstGeom prst="line">
            <a:avLst/>
          </a:prstGeom>
          <a:ln w="16510">
            <a:solidFill>
              <a:srgbClr val="2424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7635240" y="3931920"/>
            <a:ext cx="82296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11111"/>
                </a:solidFill>
                <a:latin typeface="Noto Sans CJK KR"/>
              </a:defRPr>
            </a:pPr>
            <a:r>
              <a:t>BTNR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62456" y="1911095"/>
            <a:ext cx="1280160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6D6D6D"/>
                </a:solidFill>
                <a:latin typeface="Noto Sans CJK KR"/>
              </a:defRPr>
            </a:pPr>
            <a:r>
              <a:t>RESET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1837943" y="2185416"/>
            <a:ext cx="0" cy="228600"/>
          </a:xfrm>
          <a:prstGeom prst="line">
            <a:avLst/>
          </a:prstGeom>
          <a:ln w="15240">
            <a:solidFill>
              <a:srgbClr val="2424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896112" y="4910328"/>
            <a:ext cx="10351008" cy="0"/>
          </a:xfrm>
          <a:prstGeom prst="line">
            <a:avLst/>
          </a:prstGeom>
          <a:ln w="11430">
            <a:solidFill>
              <a:srgbClr val="D1D1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914400" y="5230368"/>
            <a:ext cx="3931920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11111"/>
                </a:solidFill>
                <a:latin typeface="Noto Sans CJK KR"/>
              </a:defRPr>
            </a:pPr>
            <a:r>
              <a:t>BTNC (S_STOPWATCH 상태)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73752" y="5239512"/>
            <a:ext cx="640080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11111"/>
                </a:solidFill>
                <a:latin typeface="Noto Sans CJK KR"/>
              </a:defRPr>
            </a:pPr>
            <a:r>
              <a:t>상태는 유지  ·  sw_clear = 1 (1 Clock)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640080" y="6345936"/>
            <a:ext cx="10927080" cy="0"/>
          </a:xfrm>
          <a:prstGeom prst="line">
            <a:avLst/>
          </a:prstGeom>
          <a:ln w="8890">
            <a:solidFill>
              <a:srgbClr val="D1D1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6D6D6D"/>
                </a:solidFill>
                <a:latin typeface="Noto Sans CJK KR"/>
              </a:defRPr>
            </a:pPr>
            <a:r>
              <a:t>SOURCE CODE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94360" y="704088"/>
            <a:ext cx="11000232" cy="0"/>
          </a:xfrm>
          <a:prstGeom prst="line">
            <a:avLst/>
          </a:prstGeom>
          <a:ln w="11430">
            <a:solidFill>
              <a:srgbClr val="D1D1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12648" y="896112"/>
            <a:ext cx="10954512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11111"/>
                </a:solidFill>
                <a:latin typeface="Noto Sans CJK KR"/>
              </a:defRPr>
            </a:pPr>
            <a:r>
              <a:t>02  구현 내용 | FSM 핵심 Source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72184"/>
            <a:ext cx="10936224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D6D6D"/>
                </a:solidFill>
                <a:latin typeface="Noto Sans CJK KR"/>
              </a:defRPr>
            </a:pPr>
            <a:r>
              <a:t>mode_controller.v 실제 코드에서 상태 전이 조건과 출력 논리를 발췌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039112"/>
            <a:ext cx="7406640" cy="302666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41832" y="2176272"/>
            <a:ext cx="6986016" cy="27523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42424"/>
                </a:solidFill>
                <a:latin typeface="Noto Sans Mono CJK KR"/>
              </a:defRPr>
            </a:pPr>
            <a:r>
              <a:rPr dirty="0"/>
              <a:t>S_CLOCK:     if (</a:t>
            </a:r>
            <a:r>
              <a:rPr dirty="0" err="1"/>
              <a:t>btn_left</a:t>
            </a:r>
            <a:r>
              <a:rPr dirty="0"/>
              <a:t>) </a:t>
            </a:r>
            <a:r>
              <a:rPr dirty="0" err="1"/>
              <a:t>next_state</a:t>
            </a:r>
            <a:r>
              <a:rPr dirty="0"/>
              <a:t> = S_STOPWATCH;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42424"/>
                </a:solidFill>
                <a:latin typeface="Noto Sans Mono CJK KR"/>
              </a:defRPr>
            </a:pPr>
            <a:r>
              <a:rPr dirty="0"/>
              <a:t>S_STOPWATCH: begin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42424"/>
                </a:solidFill>
                <a:latin typeface="Noto Sans Mono CJK KR"/>
              </a:defRPr>
            </a:pPr>
            <a:r>
              <a:rPr dirty="0"/>
              <a:t>    if (</a:t>
            </a:r>
            <a:r>
              <a:rPr dirty="0" err="1"/>
              <a:t>btn_left</a:t>
            </a:r>
            <a:r>
              <a:rPr dirty="0"/>
              <a:t>)       </a:t>
            </a:r>
            <a:r>
              <a:rPr dirty="0" err="1"/>
              <a:t>next_state</a:t>
            </a:r>
            <a:r>
              <a:rPr dirty="0"/>
              <a:t> = S_CLOCK;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42424"/>
                </a:solidFill>
                <a:latin typeface="Noto Sans Mono CJK KR"/>
              </a:defRPr>
            </a:pPr>
            <a:r>
              <a:rPr dirty="0"/>
              <a:t>    else if (</a:t>
            </a:r>
            <a:r>
              <a:rPr dirty="0" err="1"/>
              <a:t>btn_right</a:t>
            </a:r>
            <a:r>
              <a:rPr dirty="0"/>
              <a:t>) </a:t>
            </a:r>
            <a:r>
              <a:rPr dirty="0" err="1"/>
              <a:t>next_state</a:t>
            </a:r>
            <a:r>
              <a:rPr dirty="0"/>
              <a:t> = S_PAUSE;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42424"/>
                </a:solidFill>
                <a:latin typeface="Noto Sans Mono CJK KR"/>
              </a:defRPr>
            </a:pPr>
            <a:r>
              <a:rPr dirty="0"/>
              <a:t>end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42424"/>
                </a:solidFill>
                <a:latin typeface="Noto Sans Mono CJK KR"/>
              </a:defRPr>
            </a:pPr>
            <a:r>
              <a:rPr dirty="0"/>
              <a:t>S_PAUSE:     if (</a:t>
            </a:r>
            <a:r>
              <a:rPr dirty="0" err="1"/>
              <a:t>btn_right</a:t>
            </a:r>
            <a:r>
              <a:rPr dirty="0"/>
              <a:t>) </a:t>
            </a:r>
            <a:r>
              <a:rPr dirty="0" err="1"/>
              <a:t>next_state</a:t>
            </a:r>
            <a:r>
              <a:rPr dirty="0"/>
              <a:t> = S_STOPWATCH;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67344" y="2121408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D6D6D"/>
                </a:solidFill>
                <a:latin typeface="Noto Sans CJK KR"/>
              </a:defRPr>
            </a:pPr>
            <a:r>
              <a:t>출력 신호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67344" y="2596896"/>
            <a:ext cx="1947672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11111"/>
                </a:solidFill>
                <a:latin typeface="Noto Sans CJK KR"/>
              </a:defRPr>
            </a:pPr>
            <a:r>
              <a:t>sw_run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67344" y="2999232"/>
            <a:ext cx="292608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D6D6D"/>
                </a:solidFill>
                <a:latin typeface="Noto Sans CJK KR"/>
              </a:defRPr>
            </a:pPr>
            <a:r>
              <a:t>STOPWATCH에서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67344" y="3657600"/>
            <a:ext cx="1947672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11111"/>
                </a:solidFill>
                <a:latin typeface="Noto Sans CJK KR"/>
              </a:defRPr>
            </a:pPr>
            <a:r>
              <a:t>sw_clear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67344" y="4059936"/>
            <a:ext cx="283464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D6D6D"/>
                </a:solidFill>
                <a:latin typeface="Noto Sans CJK KR"/>
              </a:defRPr>
            </a:pPr>
            <a:r>
              <a:t>STOPWATCH + Center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86384" y="5431536"/>
            <a:ext cx="10552176" cy="0"/>
          </a:xfrm>
          <a:prstGeom prst="line">
            <a:avLst/>
          </a:prstGeom>
          <a:ln w="11430">
            <a:solidFill>
              <a:srgbClr val="D1D1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41248" y="5678424"/>
            <a:ext cx="1051560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11111"/>
                </a:solidFill>
                <a:latin typeface="Noto Sans CJK KR"/>
              </a:defRPr>
            </a:pPr>
            <a:r>
              <a:rPr dirty="0" err="1"/>
              <a:t>판단</a:t>
            </a:r>
            <a:r>
              <a:rPr dirty="0"/>
              <a:t> </a:t>
            </a:r>
            <a:r>
              <a:rPr dirty="0" err="1"/>
              <a:t>순서</a:t>
            </a:r>
            <a:r>
              <a:rPr dirty="0"/>
              <a:t>: </a:t>
            </a:r>
            <a:r>
              <a:rPr dirty="0" err="1"/>
              <a:t>btn_left</a:t>
            </a:r>
            <a:r>
              <a:rPr dirty="0"/>
              <a:t> </a:t>
            </a:r>
            <a:r>
              <a:rPr dirty="0" err="1"/>
              <a:t>우선</a:t>
            </a:r>
            <a:r>
              <a:rPr dirty="0"/>
              <a:t> → </a:t>
            </a:r>
            <a:r>
              <a:rPr dirty="0" err="1"/>
              <a:t>btn_right</a:t>
            </a:r>
            <a:r>
              <a:rPr dirty="0"/>
              <a:t> </a:t>
            </a:r>
            <a:r>
              <a:rPr dirty="0" err="1"/>
              <a:t>확인</a:t>
            </a:r>
            <a:r>
              <a:rPr dirty="0"/>
              <a:t>  |  Reset → S_CLOCK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40080" y="6345936"/>
            <a:ext cx="10927080" cy="0"/>
          </a:xfrm>
          <a:prstGeom prst="line">
            <a:avLst/>
          </a:prstGeom>
          <a:ln w="8890">
            <a:solidFill>
              <a:srgbClr val="D1D1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49224" y="6437376"/>
            <a:ext cx="10607040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D6D6D"/>
                </a:solidFill>
                <a:latin typeface="Noto Sans CJK KR"/>
              </a:defRPr>
            </a:pPr>
            <a:r>
              <a:t>상태 저장 always @(posedge clk or posedge reset) · combinational next_state = state 기본값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6D6D6D"/>
                </a:solidFill>
                <a:latin typeface="Noto Sans CJK KR"/>
              </a:defRPr>
            </a:pPr>
            <a:r>
              <a:t>IMPLEMENTATION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94360" y="704088"/>
            <a:ext cx="11000232" cy="0"/>
          </a:xfrm>
          <a:prstGeom prst="line">
            <a:avLst/>
          </a:prstGeom>
          <a:ln w="11430">
            <a:solidFill>
              <a:srgbClr val="D1D1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12648" y="896112"/>
            <a:ext cx="10954512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11111"/>
                </a:solidFill>
                <a:latin typeface="Noto Sans CJK KR"/>
              </a:defRPr>
            </a:pPr>
            <a:r>
              <a:t>02  구현 내용 | Debounce · Edge Detection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350465"/>
            <a:ext cx="2103120" cy="2916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11111"/>
                </a:solidFill>
                <a:latin typeface="Noto Sans CJK KR"/>
              </a:defRPr>
            </a:pPr>
            <a:r>
              <a:t>raw button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191256" y="2638044"/>
            <a:ext cx="659892" cy="0"/>
          </a:xfrm>
          <a:prstGeom prst="line">
            <a:avLst/>
          </a:prstGeom>
          <a:ln w="2159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3851148" y="2282800"/>
            <a:ext cx="0" cy="372161"/>
          </a:xfrm>
          <a:prstGeom prst="line">
            <a:avLst/>
          </a:prstGeom>
          <a:ln w="2159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851148" y="2299716"/>
            <a:ext cx="659892" cy="0"/>
          </a:xfrm>
          <a:prstGeom prst="line">
            <a:avLst/>
          </a:prstGeom>
          <a:ln w="2159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511040" y="2282800"/>
            <a:ext cx="0" cy="372161"/>
          </a:xfrm>
          <a:prstGeom prst="line">
            <a:avLst/>
          </a:prstGeom>
          <a:ln w="2159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511040" y="2638044"/>
            <a:ext cx="659892" cy="0"/>
          </a:xfrm>
          <a:prstGeom prst="line">
            <a:avLst/>
          </a:prstGeom>
          <a:ln w="2159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5170932" y="2282800"/>
            <a:ext cx="0" cy="372161"/>
          </a:xfrm>
          <a:prstGeom prst="line">
            <a:avLst/>
          </a:prstGeom>
          <a:ln w="2159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170932" y="2299716"/>
            <a:ext cx="659892" cy="0"/>
          </a:xfrm>
          <a:prstGeom prst="line">
            <a:avLst/>
          </a:prstGeom>
          <a:ln w="2159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830824" y="2299716"/>
            <a:ext cx="659892" cy="0"/>
          </a:xfrm>
          <a:prstGeom prst="line">
            <a:avLst/>
          </a:prstGeom>
          <a:ln w="2159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490716" y="2282800"/>
            <a:ext cx="0" cy="372161"/>
          </a:xfrm>
          <a:prstGeom prst="line">
            <a:avLst/>
          </a:prstGeom>
          <a:ln w="2159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490716" y="2638044"/>
            <a:ext cx="659892" cy="0"/>
          </a:xfrm>
          <a:prstGeom prst="line">
            <a:avLst/>
          </a:prstGeom>
          <a:ln w="2159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7150608" y="2282800"/>
            <a:ext cx="0" cy="372161"/>
          </a:xfrm>
          <a:prstGeom prst="line">
            <a:avLst/>
          </a:prstGeom>
          <a:ln w="2159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150608" y="2299716"/>
            <a:ext cx="659892" cy="0"/>
          </a:xfrm>
          <a:prstGeom prst="line">
            <a:avLst/>
          </a:prstGeom>
          <a:ln w="2159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810500" y="2299716"/>
            <a:ext cx="659892" cy="0"/>
          </a:xfrm>
          <a:prstGeom prst="line">
            <a:avLst/>
          </a:prstGeom>
          <a:ln w="2159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8470392" y="2299716"/>
            <a:ext cx="659892" cy="0"/>
          </a:xfrm>
          <a:prstGeom prst="line">
            <a:avLst/>
          </a:prstGeom>
          <a:ln w="2159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9130284" y="2299716"/>
            <a:ext cx="659892" cy="0"/>
          </a:xfrm>
          <a:prstGeom prst="line">
            <a:avLst/>
          </a:prstGeom>
          <a:ln w="2159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9790176" y="2299716"/>
            <a:ext cx="659892" cy="0"/>
          </a:xfrm>
          <a:prstGeom prst="line">
            <a:avLst/>
          </a:prstGeom>
          <a:ln w="2159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0450068" y="2299716"/>
            <a:ext cx="659892" cy="0"/>
          </a:xfrm>
          <a:prstGeom prst="line">
            <a:avLst/>
          </a:prstGeom>
          <a:ln w="2159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850392" y="3012948"/>
            <a:ext cx="10433304" cy="0"/>
          </a:xfrm>
          <a:prstGeom prst="line">
            <a:avLst/>
          </a:prstGeom>
          <a:ln w="8890">
            <a:solidFill>
              <a:srgbClr val="EAEA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932688" y="3328873"/>
            <a:ext cx="2103120" cy="2916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11111"/>
                </a:solidFill>
                <a:latin typeface="Noto Sans CJK KR"/>
              </a:defRPr>
            </a:pPr>
            <a:r>
              <a:t>clean_btn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3191256" y="3616452"/>
            <a:ext cx="659892" cy="0"/>
          </a:xfrm>
          <a:prstGeom prst="line">
            <a:avLst/>
          </a:prstGeom>
          <a:ln w="2159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3851148" y="3616452"/>
            <a:ext cx="659892" cy="0"/>
          </a:xfrm>
          <a:prstGeom prst="line">
            <a:avLst/>
          </a:prstGeom>
          <a:ln w="2159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4511040" y="3616452"/>
            <a:ext cx="659892" cy="0"/>
          </a:xfrm>
          <a:prstGeom prst="line">
            <a:avLst/>
          </a:prstGeom>
          <a:ln w="2159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170932" y="3616452"/>
            <a:ext cx="659892" cy="0"/>
          </a:xfrm>
          <a:prstGeom prst="line">
            <a:avLst/>
          </a:prstGeom>
          <a:ln w="2159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830824" y="3616452"/>
            <a:ext cx="659892" cy="0"/>
          </a:xfrm>
          <a:prstGeom prst="line">
            <a:avLst/>
          </a:prstGeom>
          <a:ln w="2159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6490716" y="3616452"/>
            <a:ext cx="659892" cy="0"/>
          </a:xfrm>
          <a:prstGeom prst="line">
            <a:avLst/>
          </a:prstGeom>
          <a:ln w="2159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7150608" y="3616452"/>
            <a:ext cx="659892" cy="0"/>
          </a:xfrm>
          <a:prstGeom prst="line">
            <a:avLst/>
          </a:prstGeom>
          <a:ln w="2159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7810500" y="3261208"/>
            <a:ext cx="0" cy="372161"/>
          </a:xfrm>
          <a:prstGeom prst="line">
            <a:avLst/>
          </a:prstGeom>
          <a:ln w="2159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7810500" y="3278124"/>
            <a:ext cx="659892" cy="0"/>
          </a:xfrm>
          <a:prstGeom prst="line">
            <a:avLst/>
          </a:prstGeom>
          <a:ln w="2159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8470392" y="3278124"/>
            <a:ext cx="659892" cy="0"/>
          </a:xfrm>
          <a:prstGeom prst="line">
            <a:avLst/>
          </a:prstGeom>
          <a:ln w="2159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9130284" y="3278124"/>
            <a:ext cx="659892" cy="0"/>
          </a:xfrm>
          <a:prstGeom prst="line">
            <a:avLst/>
          </a:prstGeom>
          <a:ln w="2159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9790176" y="3278124"/>
            <a:ext cx="659892" cy="0"/>
          </a:xfrm>
          <a:prstGeom prst="line">
            <a:avLst/>
          </a:prstGeom>
          <a:ln w="2159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10450068" y="3278124"/>
            <a:ext cx="659892" cy="0"/>
          </a:xfrm>
          <a:prstGeom prst="line">
            <a:avLst/>
          </a:prstGeom>
          <a:ln w="2159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850392" y="3991356"/>
            <a:ext cx="10433304" cy="0"/>
          </a:xfrm>
          <a:prstGeom prst="line">
            <a:avLst/>
          </a:prstGeom>
          <a:ln w="8890">
            <a:solidFill>
              <a:srgbClr val="EAEA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932688" y="4307281"/>
            <a:ext cx="2103120" cy="2916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11111"/>
                </a:solidFill>
                <a:latin typeface="Noto Sans CJK KR"/>
              </a:defRPr>
            </a:pPr>
            <a:r>
              <a:t>btn_pulse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3191256" y="4594860"/>
            <a:ext cx="659892" cy="0"/>
          </a:xfrm>
          <a:prstGeom prst="line">
            <a:avLst/>
          </a:prstGeom>
          <a:ln w="2159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3851148" y="4594860"/>
            <a:ext cx="659892" cy="0"/>
          </a:xfrm>
          <a:prstGeom prst="line">
            <a:avLst/>
          </a:prstGeom>
          <a:ln w="2159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511040" y="4594860"/>
            <a:ext cx="659892" cy="0"/>
          </a:xfrm>
          <a:prstGeom prst="line">
            <a:avLst/>
          </a:prstGeom>
          <a:ln w="2159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5170932" y="4594860"/>
            <a:ext cx="659892" cy="0"/>
          </a:xfrm>
          <a:prstGeom prst="line">
            <a:avLst/>
          </a:prstGeom>
          <a:ln w="2159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5830824" y="4594860"/>
            <a:ext cx="659892" cy="0"/>
          </a:xfrm>
          <a:prstGeom prst="line">
            <a:avLst/>
          </a:prstGeom>
          <a:ln w="2159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6490716" y="4594860"/>
            <a:ext cx="659892" cy="0"/>
          </a:xfrm>
          <a:prstGeom prst="line">
            <a:avLst/>
          </a:prstGeom>
          <a:ln w="2159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7150608" y="4594860"/>
            <a:ext cx="659892" cy="0"/>
          </a:xfrm>
          <a:prstGeom prst="line">
            <a:avLst/>
          </a:prstGeom>
          <a:ln w="2159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7810500" y="4239616"/>
            <a:ext cx="0" cy="372161"/>
          </a:xfrm>
          <a:prstGeom prst="line">
            <a:avLst/>
          </a:prstGeom>
          <a:ln w="2159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7810500" y="4256532"/>
            <a:ext cx="659892" cy="0"/>
          </a:xfrm>
          <a:prstGeom prst="line">
            <a:avLst/>
          </a:prstGeom>
          <a:ln w="2159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8470392" y="4239616"/>
            <a:ext cx="0" cy="372161"/>
          </a:xfrm>
          <a:prstGeom prst="line">
            <a:avLst/>
          </a:prstGeom>
          <a:ln w="2159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8470392" y="4594860"/>
            <a:ext cx="659892" cy="0"/>
          </a:xfrm>
          <a:prstGeom prst="line">
            <a:avLst/>
          </a:prstGeom>
          <a:ln w="2159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9130284" y="4594860"/>
            <a:ext cx="659892" cy="0"/>
          </a:xfrm>
          <a:prstGeom prst="line">
            <a:avLst/>
          </a:prstGeom>
          <a:ln w="2159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9790176" y="4594860"/>
            <a:ext cx="659892" cy="0"/>
          </a:xfrm>
          <a:prstGeom prst="line">
            <a:avLst/>
          </a:prstGeom>
          <a:ln w="2159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0450068" y="4594860"/>
            <a:ext cx="659892" cy="0"/>
          </a:xfrm>
          <a:prstGeom prst="line">
            <a:avLst/>
          </a:prstGeom>
          <a:ln w="2159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850392" y="4969764"/>
            <a:ext cx="10433304" cy="0"/>
          </a:xfrm>
          <a:prstGeom prst="line">
            <a:avLst/>
          </a:prstGeom>
          <a:ln w="8890">
            <a:solidFill>
              <a:srgbClr val="EAEA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Rectangle 57"/>
          <p:cNvSpPr/>
          <p:nvPr/>
        </p:nvSpPr>
        <p:spPr>
          <a:xfrm>
            <a:off x="914400" y="5522976"/>
            <a:ext cx="7498079" cy="47548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1124712" y="5660136"/>
            <a:ext cx="7077455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242424"/>
                </a:solidFill>
                <a:latin typeface="Noto Sans Mono CJK KR"/>
              </a:defRPr>
            </a:pPr>
            <a:r>
              <a:rPr dirty="0"/>
              <a:t>assign </a:t>
            </a:r>
            <a:r>
              <a:rPr dirty="0" err="1"/>
              <a:t>btn_pulse</a:t>
            </a:r>
            <a:r>
              <a:rPr dirty="0"/>
              <a:t> = </a:t>
            </a:r>
            <a:r>
              <a:rPr dirty="0" err="1"/>
              <a:t>clean_btn</a:t>
            </a:r>
            <a:r>
              <a:rPr dirty="0"/>
              <a:t> &amp; ~</a:t>
            </a:r>
            <a:r>
              <a:rPr dirty="0" err="1"/>
              <a:t>prev_btn</a:t>
            </a:r>
            <a:r>
              <a:rPr dirty="0"/>
              <a:t>;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686800" y="5577840"/>
            <a:ext cx="2743200" cy="2834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11111"/>
                </a:solidFill>
                <a:latin typeface="Noto Sans CJK KR"/>
              </a:defRPr>
            </a:pPr>
            <a:r>
              <a:t>Debouncer: 10ms 안정 판정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640080" y="6345936"/>
            <a:ext cx="10927080" cy="0"/>
          </a:xfrm>
          <a:prstGeom prst="line">
            <a:avLst/>
          </a:prstGeom>
          <a:ln w="8890">
            <a:solidFill>
              <a:srgbClr val="D1D1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6D6D6D"/>
                </a:solidFill>
                <a:latin typeface="Noto Sans CJK KR"/>
              </a:defRPr>
            </a:pPr>
            <a:r>
              <a:t>IMPLEMENTATION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94360" y="704088"/>
            <a:ext cx="11000232" cy="0"/>
          </a:xfrm>
          <a:prstGeom prst="line">
            <a:avLst/>
          </a:prstGeom>
          <a:ln w="11430">
            <a:solidFill>
              <a:srgbClr val="D1D1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12648" y="896112"/>
            <a:ext cx="10954512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11111"/>
                </a:solidFill>
                <a:latin typeface="Noto Sans CJK KR"/>
              </a:defRPr>
            </a:pPr>
            <a:r>
              <a:t>02  구현 내용 | Tick Generator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72184"/>
            <a:ext cx="10936224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D6D6D"/>
                </a:solidFill>
                <a:latin typeface="Noto Sans CJK KR"/>
              </a:defRPr>
            </a:pPr>
            <a:r>
              <a:rPr dirty="0"/>
              <a:t>100MHz </a:t>
            </a:r>
            <a:r>
              <a:rPr dirty="0" err="1"/>
              <a:t>단일</a:t>
            </a:r>
            <a:r>
              <a:rPr dirty="0"/>
              <a:t> </a:t>
            </a:r>
            <a:r>
              <a:rPr dirty="0" err="1"/>
              <a:t>클럭에서</a:t>
            </a:r>
            <a:r>
              <a:rPr dirty="0"/>
              <a:t> 10ms·1ms Clock-enable </a:t>
            </a:r>
            <a:r>
              <a:rPr dirty="0" err="1"/>
              <a:t>펄스를</a:t>
            </a:r>
            <a:r>
              <a:rPr dirty="0"/>
              <a:t> </a:t>
            </a:r>
            <a:r>
              <a:rPr dirty="0" err="1"/>
              <a:t>발생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813816" y="1965960"/>
            <a:ext cx="210312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6D6D6D"/>
                </a:solidFill>
                <a:latin typeface="Noto Sans CJK KR"/>
              </a:defRPr>
            </a:pPr>
            <a:r>
              <a:t>기본 클럭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360" y="1810512"/>
            <a:ext cx="310896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4100" b="1">
                <a:solidFill>
                  <a:srgbClr val="111111"/>
                </a:solidFill>
                <a:latin typeface="Noto Sans CJK KR"/>
              </a:defRPr>
            </a:pPr>
            <a:r>
              <a:rPr dirty="0"/>
              <a:t>100MHz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22960" y="2688336"/>
            <a:ext cx="10552176" cy="0"/>
          </a:xfrm>
          <a:prstGeom prst="line">
            <a:avLst/>
          </a:prstGeom>
          <a:ln w="11430">
            <a:solidFill>
              <a:srgbClr val="D1D1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914400" y="3063240"/>
            <a:ext cx="42062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111111"/>
                </a:solidFill>
                <a:latin typeface="Noto Sans CJK KR"/>
              </a:defRPr>
            </a:pPr>
            <a:r>
              <a:t>10ms = 100Hz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83096" y="3127248"/>
            <a:ext cx="42062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6D6D6D"/>
                </a:solidFill>
                <a:latin typeface="Noto Sans CJK KR"/>
              </a:defRPr>
            </a:pPr>
            <a:r>
              <a:rPr dirty="0"/>
              <a:t>Counter / Animation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078224"/>
            <a:ext cx="42062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111111"/>
                </a:solidFill>
                <a:latin typeface="Noto Sans CJK KR"/>
              </a:defRPr>
            </a:pPr>
            <a:r>
              <a:rPr dirty="0"/>
              <a:t>1ms = 1kHz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4142232"/>
            <a:ext cx="42062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6D6D6D"/>
                </a:solidFill>
                <a:latin typeface="Noto Sans CJK KR"/>
              </a:defRPr>
            </a:pPr>
            <a:r>
              <a:rPr dirty="0"/>
              <a:t>FND Multiplexing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166360"/>
            <a:ext cx="763524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11111"/>
                </a:solidFill>
                <a:latin typeface="Noto Sans Mono CJK KR"/>
              </a:defRPr>
            </a:pPr>
            <a:r>
              <a:t>TICK_COUNT = INPUT_FREQ / TICK_Hz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669280"/>
            <a:ext cx="10469880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11111"/>
                </a:solidFill>
                <a:latin typeface="Noto Sans CJK KR"/>
              </a:defRPr>
            </a:pPr>
            <a:r>
              <a:t>10ms  1,000,000   |   1ms  100,000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40080" y="6345936"/>
            <a:ext cx="10927080" cy="0"/>
          </a:xfrm>
          <a:prstGeom prst="line">
            <a:avLst/>
          </a:prstGeom>
          <a:ln w="8890">
            <a:solidFill>
              <a:srgbClr val="D1D1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6D6D6D"/>
                </a:solidFill>
                <a:latin typeface="Noto Sans CJK KR"/>
              </a:defRPr>
            </a:pPr>
            <a:r>
              <a:t>IMPLEMENTATION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94360" y="704088"/>
            <a:ext cx="11000232" cy="0"/>
          </a:xfrm>
          <a:prstGeom prst="line">
            <a:avLst/>
          </a:prstGeom>
          <a:ln w="11430">
            <a:solidFill>
              <a:srgbClr val="D1D1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12648" y="896112"/>
            <a:ext cx="10954512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11111"/>
                </a:solidFill>
                <a:latin typeface="Noto Sans CJK KR"/>
              </a:defRPr>
            </a:pPr>
            <a:r>
              <a:t>02  구현 내용 | Time Counter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947672"/>
            <a:ext cx="40690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6D6D6D"/>
                </a:solidFill>
                <a:latin typeface="Noto Sans CJK KR"/>
              </a:defRPr>
            </a:pPr>
            <a:r>
              <a:t>CLOCK  ·  MM:SS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2359152"/>
            <a:ext cx="420624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111111"/>
                </a:solidFill>
                <a:latin typeface="Noto Sans CJK KR"/>
              </a:defRPr>
            </a:pPr>
            <a:r>
              <a:t>10ms × 100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2962656"/>
            <a:ext cx="3749039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111111"/>
                </a:solidFill>
                <a:latin typeface="Noto Sans CJK KR"/>
              </a:defRPr>
            </a:pPr>
            <a:r>
              <a:t>= 1초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3867912"/>
            <a:ext cx="416052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6D6D6D"/>
                </a:solidFill>
                <a:latin typeface="Noto Sans CJK KR"/>
              </a:defRPr>
            </a:pPr>
            <a:r>
              <a:t>초  00 → 59 → 00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6D6D6D"/>
                </a:solidFill>
                <a:latin typeface="Noto Sans CJK KR"/>
              </a:defRPr>
            </a:pPr>
            <a:r>
              <a:t>분  00 → 59 → 00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6D6D6D"/>
                </a:solidFill>
                <a:latin typeface="Noto Sans CJK KR"/>
              </a:defRPr>
            </a:pPr>
            <a:r>
              <a:t>모드와 무관하게 계수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843016" y="1993392"/>
            <a:ext cx="0" cy="3474720"/>
          </a:xfrm>
          <a:prstGeom prst="line">
            <a:avLst/>
          </a:prstGeom>
          <a:ln w="12700">
            <a:solidFill>
              <a:srgbClr val="D1D1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428232" y="1947672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6D6D6D"/>
                </a:solidFill>
                <a:latin typeface="Noto Sans CJK KR"/>
              </a:defRPr>
            </a:pPr>
            <a:r>
              <a:t>STOPWATCH  ·  SS.CC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404872"/>
            <a:ext cx="49377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11111"/>
                </a:solidFill>
                <a:latin typeface="Noto Sans Mono CJK KR"/>
              </a:defRPr>
            </a:pPr>
            <a:r>
              <a:t>sw_run &amp;&amp; tick_10ms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01384" y="3410712"/>
            <a:ext cx="4700016" cy="15910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6D6D6D"/>
                </a:solidFill>
                <a:latin typeface="Noto Sans CJK KR"/>
              </a:defRPr>
            </a:pPr>
            <a:r>
              <a:t>cs  00 → 99 → 00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6D6D6D"/>
                </a:solidFill>
                <a:latin typeface="Noto Sans CJK KR"/>
              </a:defRPr>
            </a:pPr>
            <a:r>
              <a:t>sec 00 → 59 → 00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6D6D6D"/>
                </a:solidFill>
                <a:latin typeface="Noto Sans CJK KR"/>
              </a:defRPr>
            </a:pPr>
            <a:r>
              <a:t>sw_clear 시 Stopwatch만 Reset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01384" y="5303520"/>
            <a:ext cx="48463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11111"/>
                </a:solidFill>
                <a:latin typeface="Noto Sans CJK KR"/>
              </a:defRPr>
            </a:pPr>
            <a:r>
              <a:t>PAUSE : sw_run=0 → 표시 숫자 유지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40080" y="6345936"/>
            <a:ext cx="10927080" cy="0"/>
          </a:xfrm>
          <a:prstGeom prst="line">
            <a:avLst/>
          </a:prstGeom>
          <a:ln w="8890">
            <a:solidFill>
              <a:srgbClr val="D1D1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6D6D6D"/>
                </a:solidFill>
                <a:latin typeface="Noto Sans CJK KR"/>
              </a:defRPr>
            </a:pPr>
            <a:r>
              <a:t>IMPLEMENTATION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94360" y="704088"/>
            <a:ext cx="11000232" cy="0"/>
          </a:xfrm>
          <a:prstGeom prst="line">
            <a:avLst/>
          </a:prstGeom>
          <a:ln w="11430">
            <a:solidFill>
              <a:srgbClr val="D1D1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12648" y="896112"/>
            <a:ext cx="10954512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11111"/>
                </a:solidFill>
                <a:latin typeface="Noto Sans CJK KR"/>
              </a:defRPr>
            </a:pPr>
            <a:r>
              <a:t>02  구현 내용 | BCD 변환과 표시 선택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72184"/>
            <a:ext cx="10936224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D6D6D"/>
                </a:solidFill>
                <a:latin typeface="Noto Sans CJK KR"/>
              </a:defRPr>
            </a:pPr>
            <a:r>
              <a:t>분·초를 10의 자리 / 1의 자리로 변환하고 mode에 따라 16bit 표시 데이터를 결정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2395728"/>
            <a:ext cx="2267712" cy="786384"/>
          </a:xfrm>
          <a:prstGeom prst="rect">
            <a:avLst/>
          </a:prstGeom>
          <a:solidFill>
            <a:srgbClr val="FFFFFF"/>
          </a:solidFill>
          <a:ln w="10795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523744"/>
            <a:ext cx="217627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11111"/>
                </a:solidFill>
                <a:latin typeface="Noto Sans CJK KR"/>
              </a:defRPr>
            </a:pPr>
            <a:r>
              <a:t>Clock Counter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43784"/>
            <a:ext cx="2176272" cy="2103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D6D6D"/>
                </a:solidFill>
                <a:latin typeface="Noto Sans CJK KR"/>
              </a:defRPr>
            </a:pPr>
            <a:r>
              <a:t>clock_min / clock_sec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3776472"/>
            <a:ext cx="2267712" cy="786384"/>
          </a:xfrm>
          <a:prstGeom prst="rect">
            <a:avLst/>
          </a:prstGeom>
          <a:solidFill>
            <a:srgbClr val="FFFFFF"/>
          </a:solidFill>
          <a:ln w="10795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3904487"/>
            <a:ext cx="217627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11111"/>
                </a:solidFill>
                <a:latin typeface="Noto Sans CJK KR"/>
              </a:defRPr>
            </a:pPr>
            <a:r>
              <a:t>Stopwatch Counter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224528"/>
            <a:ext cx="2176272" cy="2103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D6D6D"/>
                </a:solidFill>
                <a:latin typeface="Noto Sans CJK KR"/>
              </a:defRPr>
            </a:pPr>
            <a:r>
              <a:t>stopwatch_sec / cs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31920" y="2395728"/>
            <a:ext cx="2194560" cy="786384"/>
          </a:xfrm>
          <a:prstGeom prst="rect">
            <a:avLst/>
          </a:prstGeom>
          <a:solidFill>
            <a:srgbClr val="FFFFFF"/>
          </a:solidFill>
          <a:ln w="10795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977639" y="2523744"/>
            <a:ext cx="210312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11111"/>
                </a:solidFill>
                <a:latin typeface="Noto Sans CJK KR"/>
              </a:defRPr>
            </a:pPr>
            <a:r>
              <a:t>Binary → BCD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77639" y="2843784"/>
            <a:ext cx="2103120" cy="2103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D6D6D"/>
                </a:solidFill>
                <a:latin typeface="Noto Sans CJK KR"/>
              </a:defRPr>
            </a:pPr>
            <a:r>
              <a:t>n/10 · n%10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95160" y="3072384"/>
            <a:ext cx="2075688" cy="786384"/>
          </a:xfrm>
          <a:prstGeom prst="rect">
            <a:avLst/>
          </a:prstGeom>
          <a:solidFill>
            <a:srgbClr val="FFFFFF"/>
          </a:solidFill>
          <a:ln w="10795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040880" y="3200400"/>
            <a:ext cx="1984248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11111"/>
                </a:solidFill>
                <a:latin typeface="Noto Sans CJK KR"/>
              </a:defRPr>
            </a:pPr>
            <a:r>
              <a:t>Mode MUX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0" y="3520439"/>
            <a:ext cx="1984248" cy="2103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D6D6D"/>
                </a:solidFill>
                <a:latin typeface="Noto Sans CJK KR"/>
              </a:defRPr>
            </a:pPr>
            <a:r>
              <a:t>w_display_bcd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838944" y="3072384"/>
            <a:ext cx="1481328" cy="786384"/>
          </a:xfrm>
          <a:prstGeom prst="rect">
            <a:avLst/>
          </a:prstGeom>
          <a:solidFill>
            <a:srgbClr val="FFFFFF"/>
          </a:solidFill>
          <a:ln w="10795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884664" y="3200400"/>
            <a:ext cx="1389888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11111"/>
                </a:solidFill>
                <a:latin typeface="Noto Sans CJK KR"/>
              </a:defRPr>
            </a:pPr>
            <a:r>
              <a:t>FND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84664" y="3520439"/>
            <a:ext cx="1389888" cy="2103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D6D6D"/>
                </a:solidFill>
                <a:latin typeface="Noto Sans CJK KR"/>
              </a:defRPr>
            </a:pPr>
            <a:r>
              <a:t>4 × 4bit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136392" y="2807208"/>
            <a:ext cx="795528" cy="0"/>
          </a:xfrm>
          <a:prstGeom prst="line">
            <a:avLst/>
          </a:prstGeom>
          <a:ln w="16510">
            <a:solidFill>
              <a:srgbClr val="2424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3860160" y="2807208"/>
            <a:ext cx="71760" cy="40289"/>
          </a:xfrm>
          <a:prstGeom prst="line">
            <a:avLst/>
          </a:prstGeom>
          <a:ln w="16510">
            <a:solidFill>
              <a:srgbClr val="2424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 flipV="1">
            <a:off x="3860160" y="2766918"/>
            <a:ext cx="71760" cy="40290"/>
          </a:xfrm>
          <a:prstGeom prst="line">
            <a:avLst/>
          </a:prstGeom>
          <a:ln w="16510">
            <a:solidFill>
              <a:srgbClr val="2424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3136392" y="2807208"/>
            <a:ext cx="795528" cy="1371600"/>
          </a:xfrm>
          <a:prstGeom prst="line">
            <a:avLst/>
          </a:prstGeom>
          <a:ln w="16510">
            <a:solidFill>
              <a:srgbClr val="2424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3930768" y="2807208"/>
            <a:ext cx="1152" cy="82287"/>
          </a:xfrm>
          <a:prstGeom prst="line">
            <a:avLst/>
          </a:prstGeom>
          <a:ln w="16510">
            <a:solidFill>
              <a:srgbClr val="2424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>
            <a:off x="3861065" y="2807208"/>
            <a:ext cx="70855" cy="41860"/>
          </a:xfrm>
          <a:prstGeom prst="line">
            <a:avLst/>
          </a:prstGeom>
          <a:ln w="16510">
            <a:solidFill>
              <a:srgbClr val="2424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6126480" y="2807208"/>
            <a:ext cx="868680" cy="603504"/>
          </a:xfrm>
          <a:prstGeom prst="line">
            <a:avLst/>
          </a:prstGeom>
          <a:ln w="16510">
            <a:solidFill>
              <a:srgbClr val="2424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 flipV="1">
            <a:off x="6913239" y="3402857"/>
            <a:ext cx="81921" cy="7855"/>
          </a:xfrm>
          <a:prstGeom prst="line">
            <a:avLst/>
          </a:prstGeom>
          <a:ln w="16510">
            <a:solidFill>
              <a:srgbClr val="2424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 flipV="1">
            <a:off x="6959214" y="3336681"/>
            <a:ext cx="35946" cy="74031"/>
          </a:xfrm>
          <a:prstGeom prst="line">
            <a:avLst/>
          </a:prstGeom>
          <a:ln w="16510">
            <a:solidFill>
              <a:srgbClr val="2424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9070848" y="3465576"/>
            <a:ext cx="768096" cy="0"/>
          </a:xfrm>
          <a:prstGeom prst="line">
            <a:avLst/>
          </a:prstGeom>
          <a:ln w="16510">
            <a:solidFill>
              <a:srgbClr val="2424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>
            <a:off x="9767184" y="3465576"/>
            <a:ext cx="71760" cy="40289"/>
          </a:xfrm>
          <a:prstGeom prst="line">
            <a:avLst/>
          </a:prstGeom>
          <a:ln w="16510">
            <a:solidFill>
              <a:srgbClr val="2424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H="1" flipV="1">
            <a:off x="9767184" y="3425286"/>
            <a:ext cx="71760" cy="40290"/>
          </a:xfrm>
          <a:prstGeom prst="line">
            <a:avLst/>
          </a:prstGeom>
          <a:ln w="16510">
            <a:solidFill>
              <a:srgbClr val="2424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914400" y="5175504"/>
            <a:ext cx="10826496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11111"/>
                </a:solidFill>
                <a:latin typeface="Noto Sans Mono CJK KR"/>
              </a:defRPr>
            </a:pPr>
            <a:r>
              <a:t>w_display_bcd = (w_mode == 2'b00) ? w_clock_bcd : w_stopwatch_bcd;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40080" y="6345936"/>
            <a:ext cx="10927080" cy="0"/>
          </a:xfrm>
          <a:prstGeom prst="line">
            <a:avLst/>
          </a:prstGeom>
          <a:ln w="8890">
            <a:solidFill>
              <a:srgbClr val="D1D1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6D6D6D"/>
                </a:solidFill>
                <a:latin typeface="Noto Sans CJK KR"/>
              </a:defRPr>
            </a:pPr>
            <a:r>
              <a:t>IMPLEMENTATION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94360" y="704088"/>
            <a:ext cx="11000232" cy="0"/>
          </a:xfrm>
          <a:prstGeom prst="line">
            <a:avLst/>
          </a:prstGeom>
          <a:ln w="11430">
            <a:solidFill>
              <a:srgbClr val="D1D1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12648" y="896112"/>
            <a:ext cx="10954512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11111"/>
                </a:solidFill>
                <a:latin typeface="Noto Sans CJK KR"/>
              </a:defRPr>
            </a:pPr>
            <a:r>
              <a:t>02  구현 내용 | 4-digit FND Multiplexing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72184"/>
            <a:ext cx="10936224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D6D6D"/>
                </a:solidFill>
                <a:latin typeface="Noto Sans CJK KR"/>
              </a:defRPr>
            </a:pPr>
            <a:r>
              <a:t>1ms마다 활성화 자리가 바뀌므로, 4자리 전체 스캔 주기는 4ms</a:t>
            </a:r>
          </a:p>
        </p:txBody>
      </p:sp>
      <p:sp>
        <p:nvSpPr>
          <p:cNvPr id="7" name="Rectangle 6"/>
          <p:cNvSpPr/>
          <p:nvPr/>
        </p:nvSpPr>
        <p:spPr>
          <a:xfrm>
            <a:off x="1833372" y="2276856"/>
            <a:ext cx="594360" cy="59436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833372" y="2855214"/>
            <a:ext cx="594360" cy="59436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833372" y="3433572"/>
            <a:ext cx="594360" cy="59436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773936" y="2336292"/>
            <a:ext cx="59436" cy="54864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427732" y="2336292"/>
            <a:ext cx="59436" cy="54864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773936" y="2884932"/>
            <a:ext cx="59436" cy="54864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427732" y="2884932"/>
            <a:ext cx="59436" cy="54864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5840" y="3749039"/>
            <a:ext cx="2240280" cy="3566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11111"/>
                </a:solidFill>
                <a:latin typeface="Noto Sans CJK KR"/>
              </a:defRPr>
            </a:pPr>
            <a:r>
              <a:t>DIGIT 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251960"/>
            <a:ext cx="2240280" cy="3383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6D6D6D"/>
                </a:solidFill>
                <a:latin typeface="Noto Sans Mono CJK KR"/>
              </a:defRPr>
            </a:pPr>
            <a:r>
              <a:t>an = 1110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846320"/>
            <a:ext cx="224028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6D6D6D"/>
                </a:solidFill>
                <a:latin typeface="Noto Sans CJK KR"/>
              </a:defRPr>
            </a:pPr>
            <a:r>
              <a:t>0~1ms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154680" y="2871216"/>
            <a:ext cx="420624" cy="0"/>
          </a:xfrm>
          <a:prstGeom prst="line">
            <a:avLst/>
          </a:prstGeom>
          <a:ln w="11430">
            <a:solidFill>
              <a:srgbClr val="6D6D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3503544" y="2871216"/>
            <a:ext cx="71760" cy="40289"/>
          </a:xfrm>
          <a:prstGeom prst="line">
            <a:avLst/>
          </a:prstGeom>
          <a:ln w="11430">
            <a:solidFill>
              <a:srgbClr val="6D6D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 flipV="1">
            <a:off x="3503544" y="2830926"/>
            <a:ext cx="71760" cy="40290"/>
          </a:xfrm>
          <a:prstGeom prst="line">
            <a:avLst/>
          </a:prstGeom>
          <a:ln w="11430">
            <a:solidFill>
              <a:srgbClr val="6D6D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4576572" y="2276856"/>
            <a:ext cx="594360" cy="59436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576572" y="2855214"/>
            <a:ext cx="594360" cy="59436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576572" y="3433572"/>
            <a:ext cx="594360" cy="59436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517136" y="2336292"/>
            <a:ext cx="59436" cy="54864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170931" y="2336292"/>
            <a:ext cx="59436" cy="54864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517136" y="2884932"/>
            <a:ext cx="59436" cy="54864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170931" y="2884932"/>
            <a:ext cx="59436" cy="54864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749039" y="3749039"/>
            <a:ext cx="2240280" cy="3566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11111"/>
                </a:solidFill>
                <a:latin typeface="Noto Sans CJK KR"/>
              </a:defRPr>
            </a:pPr>
            <a:r>
              <a:t>DIGIT 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49039" y="4251960"/>
            <a:ext cx="2240280" cy="3383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6D6D6D"/>
                </a:solidFill>
                <a:latin typeface="Noto Sans Mono CJK KR"/>
              </a:defRPr>
            </a:pPr>
            <a:r>
              <a:t>an = 1101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49039" y="4846320"/>
            <a:ext cx="224028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6D6D6D"/>
                </a:solidFill>
                <a:latin typeface="Noto Sans CJK KR"/>
              </a:defRPr>
            </a:pPr>
            <a:r>
              <a:t>1~2ms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897879" y="2871216"/>
            <a:ext cx="420625" cy="0"/>
          </a:xfrm>
          <a:prstGeom prst="line">
            <a:avLst/>
          </a:prstGeom>
          <a:ln w="11430">
            <a:solidFill>
              <a:srgbClr val="6D6D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>
            <a:off x="6246744" y="2871216"/>
            <a:ext cx="71760" cy="40289"/>
          </a:xfrm>
          <a:prstGeom prst="line">
            <a:avLst/>
          </a:prstGeom>
          <a:ln w="11430">
            <a:solidFill>
              <a:srgbClr val="6D6D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 flipV="1">
            <a:off x="6246744" y="2830926"/>
            <a:ext cx="71760" cy="40290"/>
          </a:xfrm>
          <a:prstGeom prst="line">
            <a:avLst/>
          </a:prstGeom>
          <a:ln w="11430">
            <a:solidFill>
              <a:srgbClr val="6D6D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7319771" y="2276856"/>
            <a:ext cx="594360" cy="59436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7319771" y="2855214"/>
            <a:ext cx="594360" cy="59436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7319771" y="3433572"/>
            <a:ext cx="594360" cy="59436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7260336" y="2336292"/>
            <a:ext cx="59436" cy="54864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7914131" y="2336292"/>
            <a:ext cx="59436" cy="54864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7260336" y="2884932"/>
            <a:ext cx="59436" cy="54864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7914131" y="2884932"/>
            <a:ext cx="59436" cy="54864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492240" y="3749039"/>
            <a:ext cx="2240280" cy="3566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11111"/>
                </a:solidFill>
                <a:latin typeface="Noto Sans CJK KR"/>
              </a:defRPr>
            </a:pPr>
            <a:r>
              <a:t>DIGIT 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92240" y="4251960"/>
            <a:ext cx="2240280" cy="3383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6D6D6D"/>
                </a:solidFill>
                <a:latin typeface="Noto Sans Mono CJK KR"/>
              </a:defRPr>
            </a:pPr>
            <a:r>
              <a:t>an = 1011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92240" y="4846320"/>
            <a:ext cx="224028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6D6D6D"/>
                </a:solidFill>
                <a:latin typeface="Noto Sans CJK KR"/>
              </a:defRPr>
            </a:pPr>
            <a:r>
              <a:t>2~3ms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8641080" y="2871216"/>
            <a:ext cx="420624" cy="0"/>
          </a:xfrm>
          <a:prstGeom prst="line">
            <a:avLst/>
          </a:prstGeom>
          <a:ln w="11430">
            <a:solidFill>
              <a:srgbClr val="6D6D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H="1">
            <a:off x="8989944" y="2871216"/>
            <a:ext cx="71760" cy="40289"/>
          </a:xfrm>
          <a:prstGeom prst="line">
            <a:avLst/>
          </a:prstGeom>
          <a:ln w="11430">
            <a:solidFill>
              <a:srgbClr val="6D6D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H="1" flipV="1">
            <a:off x="8989944" y="2830926"/>
            <a:ext cx="71760" cy="40290"/>
          </a:xfrm>
          <a:prstGeom prst="line">
            <a:avLst/>
          </a:prstGeom>
          <a:ln w="11430">
            <a:solidFill>
              <a:srgbClr val="6D6D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tangle 45"/>
          <p:cNvSpPr/>
          <p:nvPr/>
        </p:nvSpPr>
        <p:spPr>
          <a:xfrm>
            <a:off x="10062972" y="2276856"/>
            <a:ext cx="594360" cy="59436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10062972" y="2855214"/>
            <a:ext cx="594360" cy="59436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10062972" y="3433572"/>
            <a:ext cx="594360" cy="59436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10003536" y="2336292"/>
            <a:ext cx="59436" cy="54864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10657332" y="2336292"/>
            <a:ext cx="59436" cy="54864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10003536" y="2884932"/>
            <a:ext cx="59436" cy="54864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10657332" y="2884932"/>
            <a:ext cx="59436" cy="54864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9235440" y="3749039"/>
            <a:ext cx="2240280" cy="3566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11111"/>
                </a:solidFill>
                <a:latin typeface="Noto Sans CJK KR"/>
              </a:defRPr>
            </a:pPr>
            <a:r>
              <a:t>DIGIT 3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235440" y="4251960"/>
            <a:ext cx="2240280" cy="3383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6D6D6D"/>
                </a:solidFill>
                <a:latin typeface="Noto Sans Mono CJK KR"/>
              </a:defRPr>
            </a:pPr>
            <a:r>
              <a:t>an = 0111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235440" y="4846320"/>
            <a:ext cx="224028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6D6D6D"/>
                </a:solidFill>
                <a:latin typeface="Noto Sans CJK KR"/>
              </a:defRPr>
            </a:pPr>
            <a:r>
              <a:t>3~4ms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15568" y="5596128"/>
            <a:ext cx="10241280" cy="4846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11111"/>
                </a:solidFill>
                <a:latin typeface="Noto Sans CJK KR"/>
              </a:defRPr>
            </a:pPr>
            <a:r>
              <a:t>digit_sel : 0 → 1 → 2 → 3 → 0    |    각 자리 Refresh ≈ 250Hz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640080" y="6345936"/>
            <a:ext cx="10927080" cy="0"/>
          </a:xfrm>
          <a:prstGeom prst="line">
            <a:avLst/>
          </a:prstGeom>
          <a:ln w="8890">
            <a:solidFill>
              <a:srgbClr val="D1D1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6D6D6D"/>
                </a:solidFill>
                <a:latin typeface="Noto Sans CJK KR"/>
              </a:defRPr>
            </a:pPr>
            <a:r>
              <a:t>IMPLEMENTATION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94360" y="704088"/>
            <a:ext cx="11000232" cy="0"/>
          </a:xfrm>
          <a:prstGeom prst="line">
            <a:avLst/>
          </a:prstGeom>
          <a:ln w="11430">
            <a:solidFill>
              <a:srgbClr val="D1D1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12648" y="896112"/>
            <a:ext cx="10954512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11111"/>
                </a:solidFill>
                <a:latin typeface="Noto Sans CJK KR"/>
              </a:defRPr>
            </a:pPr>
            <a:r>
              <a:t>02  구현 내용 | Pause 후 Animation Controller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72184"/>
            <a:ext cx="10936224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D6D6D"/>
                </a:solidFill>
                <a:latin typeface="Noto Sans CJK KR"/>
              </a:defRPr>
            </a:pPr>
            <a:r>
              <a:t>Pause에서 5초간 버튼 입력이 없으면 출력 패턴을 회전시키는 컨트롤러가 활성화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2295144"/>
            <a:ext cx="521207" cy="521207"/>
          </a:xfrm>
          <a:prstGeom prst="ellipse">
            <a:avLst/>
          </a:prstGeom>
          <a:solidFill>
            <a:srgbClr val="FFFFFF"/>
          </a:solidFill>
          <a:ln w="1143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13816" y="2414016"/>
            <a:ext cx="448056" cy="1920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11111"/>
                </a:solidFill>
                <a:latin typeface="Noto Sans CJK KR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990088"/>
            <a:ext cx="2596896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11111"/>
                </a:solidFill>
                <a:latin typeface="Noto Sans CJK KR"/>
              </a:defRPr>
            </a:pPr>
            <a:r>
              <a:t>PAUSE 진입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538728"/>
            <a:ext cx="2633472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D6D6D"/>
                </a:solidFill>
                <a:latin typeface="Noto Sans CJK KR"/>
              </a:defRPr>
            </a:pPr>
            <a:r>
              <a:t>idle_count 초기화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371600" y="2551176"/>
            <a:ext cx="2057400" cy="0"/>
          </a:xfrm>
          <a:prstGeom prst="line">
            <a:avLst/>
          </a:prstGeom>
          <a:ln w="11430">
            <a:solidFill>
              <a:srgbClr val="D1D1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3639312" y="2295144"/>
            <a:ext cx="521207" cy="521207"/>
          </a:xfrm>
          <a:prstGeom prst="ellipse">
            <a:avLst/>
          </a:prstGeom>
          <a:solidFill>
            <a:srgbClr val="FFFFFF"/>
          </a:solidFill>
          <a:ln w="1143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75887" y="2414016"/>
            <a:ext cx="448056" cy="1920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11111"/>
                </a:solidFill>
                <a:latin typeface="Noto Sans CJK KR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9312" y="2990088"/>
            <a:ext cx="2596896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11111"/>
                </a:solidFill>
                <a:latin typeface="Noto Sans CJK KR"/>
              </a:defRPr>
            </a:pPr>
            <a:r>
              <a:t>500 × 10ms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9312" y="3538728"/>
            <a:ext cx="2633472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D6D6D"/>
                </a:solidFill>
                <a:latin typeface="Noto Sans CJK KR"/>
              </a:defRPr>
            </a:pPr>
            <a:r>
              <a:t>5.00초 무입력 대기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233672" y="2551176"/>
            <a:ext cx="2057400" cy="0"/>
          </a:xfrm>
          <a:prstGeom prst="line">
            <a:avLst/>
          </a:prstGeom>
          <a:ln w="11430">
            <a:solidFill>
              <a:srgbClr val="D1D1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6501383" y="2295144"/>
            <a:ext cx="521207" cy="521207"/>
          </a:xfrm>
          <a:prstGeom prst="ellipse">
            <a:avLst/>
          </a:prstGeom>
          <a:solidFill>
            <a:srgbClr val="FFFFFF"/>
          </a:solidFill>
          <a:ln w="1143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37959" y="2414016"/>
            <a:ext cx="448056" cy="1920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11111"/>
                </a:solidFill>
                <a:latin typeface="Noto Sans CJK KR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01383" y="2990088"/>
            <a:ext cx="2596896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11111"/>
                </a:solidFill>
                <a:latin typeface="Noto Sans CJK KR"/>
              </a:defRPr>
            </a:pPr>
            <a:r>
              <a:t>anim_active = 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01383" y="3538728"/>
            <a:ext cx="2633472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D6D6D"/>
                </a:solidFill>
                <a:latin typeface="Noto Sans CJK KR"/>
              </a:defRPr>
            </a:pPr>
            <a:r>
              <a:t>FND 표시 방식 전환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095744" y="2551176"/>
            <a:ext cx="2057400" cy="0"/>
          </a:xfrm>
          <a:prstGeom prst="line">
            <a:avLst/>
          </a:prstGeom>
          <a:ln w="11430">
            <a:solidFill>
              <a:srgbClr val="D1D1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9363456" y="2295144"/>
            <a:ext cx="521207" cy="521207"/>
          </a:xfrm>
          <a:prstGeom prst="ellipse">
            <a:avLst/>
          </a:prstGeom>
          <a:solidFill>
            <a:srgbClr val="FFFFFF"/>
          </a:solidFill>
          <a:ln w="1143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400032" y="2414016"/>
            <a:ext cx="448056" cy="1920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11111"/>
                </a:solidFill>
                <a:latin typeface="Noto Sans CJK KR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63456" y="2990088"/>
            <a:ext cx="2596896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11111"/>
                </a:solidFill>
                <a:latin typeface="Noto Sans CJK KR"/>
              </a:defRPr>
            </a:pPr>
            <a:r>
              <a:t>10 × 10ms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63456" y="3538728"/>
            <a:ext cx="2633472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D6D6D"/>
                </a:solidFill>
                <a:latin typeface="Noto Sans CJK KR"/>
              </a:defRPr>
            </a:pPr>
            <a:r>
              <a:t>100ms마다 anim_step 증가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05840" y="4471415"/>
            <a:ext cx="10113264" cy="1717891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199730" y="4644560"/>
            <a:ext cx="5073054" cy="1046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42424"/>
                </a:solidFill>
                <a:latin typeface="Noto Sans Mono CJK KR"/>
              </a:defRPr>
            </a:pPr>
            <a:r>
              <a:rPr dirty="0"/>
              <a:t>if (mode != S_PAUSE || </a:t>
            </a:r>
            <a:r>
              <a:rPr dirty="0" smtClean="0"/>
              <a:t>(|</a:t>
            </a:r>
            <a:r>
              <a:rPr dirty="0" err="1" smtClean="0"/>
              <a:t>btn_pulse</a:t>
            </a:r>
            <a:r>
              <a:rPr dirty="0" smtClean="0"/>
              <a:t>))</a:t>
            </a:r>
            <a:endParaRPr dirty="0"/>
          </a:p>
          <a:p>
            <a:pPr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42424"/>
                </a:solidFill>
                <a:latin typeface="Noto Sans Mono CJK KR"/>
              </a:defRPr>
            </a:pPr>
            <a:r>
              <a:rPr dirty="0"/>
              <a:t>    </a:t>
            </a:r>
            <a:r>
              <a:rPr dirty="0" err="1"/>
              <a:t>anim_active</a:t>
            </a:r>
            <a:r>
              <a:rPr dirty="0"/>
              <a:t> &lt;= 0;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42424"/>
                </a:solidFill>
                <a:latin typeface="Noto Sans Mono CJK KR"/>
              </a:defRPr>
            </a:pPr>
            <a:r>
              <a:rPr dirty="0"/>
              <a:t>else if (</a:t>
            </a:r>
            <a:r>
              <a:rPr dirty="0" err="1"/>
              <a:t>idle_count</a:t>
            </a:r>
            <a:r>
              <a:rPr dirty="0"/>
              <a:t> == 499)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42424"/>
                </a:solidFill>
                <a:latin typeface="Noto Sans Mono CJK KR"/>
              </a:defRPr>
            </a:pPr>
            <a:r>
              <a:rPr dirty="0"/>
              <a:t>    </a:t>
            </a:r>
            <a:r>
              <a:rPr dirty="0" err="1"/>
              <a:t>anim_active</a:t>
            </a:r>
            <a:r>
              <a:rPr dirty="0"/>
              <a:t> &lt;= 1;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40080" y="6345936"/>
            <a:ext cx="10927080" cy="0"/>
          </a:xfrm>
          <a:prstGeom prst="line">
            <a:avLst/>
          </a:prstGeom>
          <a:ln w="8890">
            <a:solidFill>
              <a:srgbClr val="D1D1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6D6D6D"/>
                </a:solidFill>
                <a:latin typeface="Noto Sans CJK KR"/>
              </a:defRPr>
            </a:pPr>
            <a:r>
              <a:t>IMPLEMENTATION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94360" y="704088"/>
            <a:ext cx="11000232" cy="0"/>
          </a:xfrm>
          <a:prstGeom prst="line">
            <a:avLst/>
          </a:prstGeom>
          <a:ln w="11430">
            <a:solidFill>
              <a:srgbClr val="D1D1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12648" y="896112"/>
            <a:ext cx="10954512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11111"/>
                </a:solidFill>
                <a:latin typeface="Noto Sans CJK KR"/>
              </a:defRPr>
            </a:pPr>
            <a:r>
              <a:t>02  구현 내용 | 12-step Circle Animation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72184"/>
            <a:ext cx="10936224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D6D6D"/>
                </a:solidFill>
                <a:latin typeface="Noto Sans CJK KR"/>
              </a:defRPr>
            </a:pPr>
            <a:r>
              <a:t>4자리 FND 전체 외곽에서 단일 segment가 100ms 간격으로 시계 방향 이동</a:t>
            </a:r>
          </a:p>
        </p:txBody>
      </p:sp>
      <p:sp>
        <p:nvSpPr>
          <p:cNvPr id="7" name="Rectangle 6"/>
          <p:cNvSpPr/>
          <p:nvPr/>
        </p:nvSpPr>
        <p:spPr>
          <a:xfrm>
            <a:off x="2098548" y="2514600"/>
            <a:ext cx="932688" cy="59436"/>
          </a:xfrm>
          <a:prstGeom prst="rect">
            <a:avLst/>
          </a:prstGeom>
          <a:solidFill>
            <a:srgbClr val="C6C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098548" y="3289553"/>
            <a:ext cx="932688" cy="59436"/>
          </a:xfrm>
          <a:prstGeom prst="rect">
            <a:avLst/>
          </a:prstGeom>
          <a:solidFill>
            <a:srgbClr val="C6C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098548" y="4064507"/>
            <a:ext cx="932688" cy="59436"/>
          </a:xfrm>
          <a:prstGeom prst="rect">
            <a:avLst/>
          </a:prstGeom>
          <a:solidFill>
            <a:srgbClr val="C6C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039112" y="2574036"/>
            <a:ext cx="59436" cy="745236"/>
          </a:xfrm>
          <a:prstGeom prst="rect">
            <a:avLst/>
          </a:prstGeom>
          <a:solidFill>
            <a:srgbClr val="C6C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031236" y="2574036"/>
            <a:ext cx="59436" cy="745236"/>
          </a:xfrm>
          <a:prstGeom prst="rect">
            <a:avLst/>
          </a:prstGeom>
          <a:solidFill>
            <a:srgbClr val="C6C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039112" y="3319272"/>
            <a:ext cx="59436" cy="745236"/>
          </a:xfrm>
          <a:prstGeom prst="rect">
            <a:avLst/>
          </a:prstGeom>
          <a:solidFill>
            <a:srgbClr val="C6C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031236" y="3319272"/>
            <a:ext cx="59436" cy="745236"/>
          </a:xfrm>
          <a:prstGeom prst="rect">
            <a:avLst/>
          </a:prstGeom>
          <a:solidFill>
            <a:srgbClr val="C6C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046220" y="2514600"/>
            <a:ext cx="932688" cy="59436"/>
          </a:xfrm>
          <a:prstGeom prst="rect">
            <a:avLst/>
          </a:prstGeom>
          <a:solidFill>
            <a:srgbClr val="C6C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046220" y="3289553"/>
            <a:ext cx="932688" cy="59436"/>
          </a:xfrm>
          <a:prstGeom prst="rect">
            <a:avLst/>
          </a:prstGeom>
          <a:solidFill>
            <a:srgbClr val="C6C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046220" y="4064507"/>
            <a:ext cx="932688" cy="59436"/>
          </a:xfrm>
          <a:prstGeom prst="rect">
            <a:avLst/>
          </a:prstGeom>
          <a:solidFill>
            <a:srgbClr val="C6C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986783" y="2574036"/>
            <a:ext cx="59436" cy="745236"/>
          </a:xfrm>
          <a:prstGeom prst="rect">
            <a:avLst/>
          </a:prstGeom>
          <a:solidFill>
            <a:srgbClr val="C6C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978907" y="2574036"/>
            <a:ext cx="59436" cy="745236"/>
          </a:xfrm>
          <a:prstGeom prst="rect">
            <a:avLst/>
          </a:prstGeom>
          <a:solidFill>
            <a:srgbClr val="C6C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986783" y="3319272"/>
            <a:ext cx="59436" cy="745236"/>
          </a:xfrm>
          <a:prstGeom prst="rect">
            <a:avLst/>
          </a:prstGeom>
          <a:solidFill>
            <a:srgbClr val="C6C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978907" y="3319272"/>
            <a:ext cx="59436" cy="745236"/>
          </a:xfrm>
          <a:prstGeom prst="rect">
            <a:avLst/>
          </a:prstGeom>
          <a:solidFill>
            <a:srgbClr val="C6C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993892" y="2514600"/>
            <a:ext cx="932688" cy="59436"/>
          </a:xfrm>
          <a:prstGeom prst="rect">
            <a:avLst/>
          </a:prstGeom>
          <a:solidFill>
            <a:srgbClr val="C6C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993892" y="3289553"/>
            <a:ext cx="932688" cy="59436"/>
          </a:xfrm>
          <a:prstGeom prst="rect">
            <a:avLst/>
          </a:prstGeom>
          <a:solidFill>
            <a:srgbClr val="C6C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993892" y="4064507"/>
            <a:ext cx="932688" cy="59436"/>
          </a:xfrm>
          <a:prstGeom prst="rect">
            <a:avLst/>
          </a:prstGeom>
          <a:solidFill>
            <a:srgbClr val="C6C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934456" y="2574036"/>
            <a:ext cx="59436" cy="745236"/>
          </a:xfrm>
          <a:prstGeom prst="rect">
            <a:avLst/>
          </a:prstGeom>
          <a:solidFill>
            <a:srgbClr val="C6C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926580" y="2574036"/>
            <a:ext cx="59436" cy="745236"/>
          </a:xfrm>
          <a:prstGeom prst="rect">
            <a:avLst/>
          </a:prstGeom>
          <a:solidFill>
            <a:srgbClr val="C6C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934456" y="3319272"/>
            <a:ext cx="59436" cy="745236"/>
          </a:xfrm>
          <a:prstGeom prst="rect">
            <a:avLst/>
          </a:prstGeom>
          <a:solidFill>
            <a:srgbClr val="C6C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926580" y="3319272"/>
            <a:ext cx="59436" cy="745236"/>
          </a:xfrm>
          <a:prstGeom prst="rect">
            <a:avLst/>
          </a:prstGeom>
          <a:solidFill>
            <a:srgbClr val="C6C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941563" y="2514600"/>
            <a:ext cx="932688" cy="59436"/>
          </a:xfrm>
          <a:prstGeom prst="rect">
            <a:avLst/>
          </a:prstGeom>
          <a:solidFill>
            <a:srgbClr val="C6C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7941563" y="3289553"/>
            <a:ext cx="932688" cy="59436"/>
          </a:xfrm>
          <a:prstGeom prst="rect">
            <a:avLst/>
          </a:prstGeom>
          <a:solidFill>
            <a:srgbClr val="C6C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7941563" y="4064507"/>
            <a:ext cx="932688" cy="59436"/>
          </a:xfrm>
          <a:prstGeom prst="rect">
            <a:avLst/>
          </a:prstGeom>
          <a:solidFill>
            <a:srgbClr val="C6C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7882127" y="2574036"/>
            <a:ext cx="59436" cy="745236"/>
          </a:xfrm>
          <a:prstGeom prst="rect">
            <a:avLst/>
          </a:prstGeom>
          <a:solidFill>
            <a:srgbClr val="C6C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8874252" y="2574036"/>
            <a:ext cx="59436" cy="745236"/>
          </a:xfrm>
          <a:prstGeom prst="rect">
            <a:avLst/>
          </a:prstGeom>
          <a:solidFill>
            <a:srgbClr val="C6C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7882127" y="3319272"/>
            <a:ext cx="59436" cy="745236"/>
          </a:xfrm>
          <a:prstGeom prst="rect">
            <a:avLst/>
          </a:prstGeom>
          <a:solidFill>
            <a:srgbClr val="C6C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8874252" y="3319272"/>
            <a:ext cx="59436" cy="745236"/>
          </a:xfrm>
          <a:prstGeom prst="rect">
            <a:avLst/>
          </a:prstGeom>
          <a:solidFill>
            <a:srgbClr val="C6C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2331720" y="2167128"/>
            <a:ext cx="310896" cy="310896"/>
          </a:xfrm>
          <a:prstGeom prst="ellipse">
            <a:avLst/>
          </a:prstGeom>
          <a:solidFill>
            <a:srgbClr val="FFFFFF"/>
          </a:solidFill>
          <a:ln w="1079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350008" y="2235708"/>
            <a:ext cx="27432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111111"/>
                </a:solidFill>
                <a:latin typeface="Noto Sans CJK KR"/>
              </a:defRPr>
            </a:pPr>
            <a:r>
              <a:t>0</a:t>
            </a:r>
          </a:p>
        </p:txBody>
      </p:sp>
      <p:sp>
        <p:nvSpPr>
          <p:cNvPr id="37" name="Oval 36"/>
          <p:cNvSpPr/>
          <p:nvPr/>
        </p:nvSpPr>
        <p:spPr>
          <a:xfrm>
            <a:off x="4279392" y="2167128"/>
            <a:ext cx="310896" cy="310896"/>
          </a:xfrm>
          <a:prstGeom prst="ellipse">
            <a:avLst/>
          </a:prstGeom>
          <a:solidFill>
            <a:srgbClr val="FFFFFF"/>
          </a:solidFill>
          <a:ln w="1079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297679" y="2235708"/>
            <a:ext cx="27432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111111"/>
                </a:solidFill>
                <a:latin typeface="Noto Sans CJK KR"/>
              </a:defRPr>
            </a:pPr>
            <a:r>
              <a:t>1</a:t>
            </a:r>
          </a:p>
        </p:txBody>
      </p:sp>
      <p:sp>
        <p:nvSpPr>
          <p:cNvPr id="39" name="Oval 38"/>
          <p:cNvSpPr/>
          <p:nvPr/>
        </p:nvSpPr>
        <p:spPr>
          <a:xfrm>
            <a:off x="6227064" y="2167128"/>
            <a:ext cx="310896" cy="310896"/>
          </a:xfrm>
          <a:prstGeom prst="ellipse">
            <a:avLst/>
          </a:prstGeom>
          <a:solidFill>
            <a:srgbClr val="FFFFFF"/>
          </a:solidFill>
          <a:ln w="1079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245351" y="2235708"/>
            <a:ext cx="27432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111111"/>
                </a:solidFill>
                <a:latin typeface="Noto Sans CJK KR"/>
              </a:defRPr>
            </a:pPr>
            <a:r>
              <a:t>2</a:t>
            </a:r>
          </a:p>
        </p:txBody>
      </p:sp>
      <p:sp>
        <p:nvSpPr>
          <p:cNvPr id="41" name="Oval 40"/>
          <p:cNvSpPr/>
          <p:nvPr/>
        </p:nvSpPr>
        <p:spPr>
          <a:xfrm>
            <a:off x="8174736" y="2167128"/>
            <a:ext cx="310896" cy="310896"/>
          </a:xfrm>
          <a:prstGeom prst="ellipse">
            <a:avLst/>
          </a:prstGeom>
          <a:solidFill>
            <a:srgbClr val="FFFFFF"/>
          </a:solidFill>
          <a:ln w="1079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193023" y="2235708"/>
            <a:ext cx="27432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111111"/>
                </a:solidFill>
                <a:latin typeface="Noto Sans CJK KR"/>
              </a:defRPr>
            </a:pPr>
            <a:r>
              <a:t>3</a:t>
            </a:r>
          </a:p>
        </p:txBody>
      </p:sp>
      <p:sp>
        <p:nvSpPr>
          <p:cNvPr id="43" name="Oval 42"/>
          <p:cNvSpPr/>
          <p:nvPr/>
        </p:nvSpPr>
        <p:spPr>
          <a:xfrm>
            <a:off x="9272016" y="2798064"/>
            <a:ext cx="310896" cy="310896"/>
          </a:xfrm>
          <a:prstGeom prst="ellipse">
            <a:avLst/>
          </a:prstGeom>
          <a:solidFill>
            <a:srgbClr val="FFFFFF"/>
          </a:solidFill>
          <a:ln w="1079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9290304" y="2866644"/>
            <a:ext cx="27432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111111"/>
                </a:solidFill>
                <a:latin typeface="Noto Sans CJK KR"/>
              </a:defRPr>
            </a:pPr>
            <a:r>
              <a:t>4</a:t>
            </a:r>
          </a:p>
        </p:txBody>
      </p:sp>
      <p:sp>
        <p:nvSpPr>
          <p:cNvPr id="45" name="Oval 44"/>
          <p:cNvSpPr/>
          <p:nvPr/>
        </p:nvSpPr>
        <p:spPr>
          <a:xfrm>
            <a:off x="9272016" y="3858768"/>
            <a:ext cx="310896" cy="310896"/>
          </a:xfrm>
          <a:prstGeom prst="ellipse">
            <a:avLst/>
          </a:prstGeom>
          <a:solidFill>
            <a:srgbClr val="FFFFFF"/>
          </a:solidFill>
          <a:ln w="1079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9290304" y="3927348"/>
            <a:ext cx="27432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111111"/>
                </a:solidFill>
                <a:latin typeface="Noto Sans CJK KR"/>
              </a:defRPr>
            </a:pPr>
            <a:r>
              <a:t>5</a:t>
            </a:r>
          </a:p>
        </p:txBody>
      </p:sp>
      <p:sp>
        <p:nvSpPr>
          <p:cNvPr id="47" name="Oval 46"/>
          <p:cNvSpPr/>
          <p:nvPr/>
        </p:nvSpPr>
        <p:spPr>
          <a:xfrm>
            <a:off x="8183879" y="4233672"/>
            <a:ext cx="310896" cy="310896"/>
          </a:xfrm>
          <a:prstGeom prst="ellipse">
            <a:avLst/>
          </a:prstGeom>
          <a:solidFill>
            <a:srgbClr val="FFFFFF"/>
          </a:solidFill>
          <a:ln w="1079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202167" y="4302252"/>
            <a:ext cx="27432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111111"/>
                </a:solidFill>
                <a:latin typeface="Noto Sans CJK KR"/>
              </a:defRPr>
            </a:pPr>
            <a:r>
              <a:t>6</a:t>
            </a:r>
          </a:p>
        </p:txBody>
      </p:sp>
      <p:sp>
        <p:nvSpPr>
          <p:cNvPr id="49" name="Oval 48"/>
          <p:cNvSpPr/>
          <p:nvPr/>
        </p:nvSpPr>
        <p:spPr>
          <a:xfrm>
            <a:off x="6227064" y="4233672"/>
            <a:ext cx="310896" cy="310896"/>
          </a:xfrm>
          <a:prstGeom prst="ellipse">
            <a:avLst/>
          </a:prstGeom>
          <a:solidFill>
            <a:srgbClr val="FFFFFF"/>
          </a:solidFill>
          <a:ln w="1079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245351" y="4302252"/>
            <a:ext cx="27432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111111"/>
                </a:solidFill>
                <a:latin typeface="Noto Sans CJK KR"/>
              </a:defRPr>
            </a:pPr>
            <a:r>
              <a:t>7</a:t>
            </a:r>
          </a:p>
        </p:txBody>
      </p:sp>
      <p:sp>
        <p:nvSpPr>
          <p:cNvPr id="51" name="Oval 50"/>
          <p:cNvSpPr/>
          <p:nvPr/>
        </p:nvSpPr>
        <p:spPr>
          <a:xfrm>
            <a:off x="4279392" y="4233672"/>
            <a:ext cx="310896" cy="310896"/>
          </a:xfrm>
          <a:prstGeom prst="ellipse">
            <a:avLst/>
          </a:prstGeom>
          <a:solidFill>
            <a:srgbClr val="FFFFFF"/>
          </a:solidFill>
          <a:ln w="1079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4297679" y="4302252"/>
            <a:ext cx="27432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111111"/>
                </a:solidFill>
                <a:latin typeface="Noto Sans CJK KR"/>
              </a:defRPr>
            </a:pPr>
            <a:r>
              <a:t>8</a:t>
            </a:r>
          </a:p>
        </p:txBody>
      </p:sp>
      <p:sp>
        <p:nvSpPr>
          <p:cNvPr id="53" name="Oval 52"/>
          <p:cNvSpPr/>
          <p:nvPr/>
        </p:nvSpPr>
        <p:spPr>
          <a:xfrm>
            <a:off x="2331720" y="4233672"/>
            <a:ext cx="310896" cy="310896"/>
          </a:xfrm>
          <a:prstGeom prst="ellipse">
            <a:avLst/>
          </a:prstGeom>
          <a:solidFill>
            <a:srgbClr val="FFFFFF"/>
          </a:solidFill>
          <a:ln w="1079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2350008" y="4302252"/>
            <a:ext cx="27432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111111"/>
                </a:solidFill>
                <a:latin typeface="Noto Sans CJK KR"/>
              </a:defRPr>
            </a:pPr>
            <a:r>
              <a:t>9</a:t>
            </a:r>
          </a:p>
        </p:txBody>
      </p:sp>
      <p:sp>
        <p:nvSpPr>
          <p:cNvPr id="55" name="Oval 54"/>
          <p:cNvSpPr/>
          <p:nvPr/>
        </p:nvSpPr>
        <p:spPr>
          <a:xfrm>
            <a:off x="1499616" y="3867912"/>
            <a:ext cx="310896" cy="310896"/>
          </a:xfrm>
          <a:prstGeom prst="ellipse">
            <a:avLst/>
          </a:prstGeom>
          <a:solidFill>
            <a:srgbClr val="FFFFFF"/>
          </a:solidFill>
          <a:ln w="1079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1517904" y="3936492"/>
            <a:ext cx="27432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111111"/>
                </a:solidFill>
                <a:latin typeface="Noto Sans CJK KR"/>
              </a:defRPr>
            </a:pPr>
            <a:r>
              <a:t>10</a:t>
            </a:r>
          </a:p>
        </p:txBody>
      </p:sp>
      <p:sp>
        <p:nvSpPr>
          <p:cNvPr id="57" name="Oval 56"/>
          <p:cNvSpPr/>
          <p:nvPr/>
        </p:nvSpPr>
        <p:spPr>
          <a:xfrm>
            <a:off x="1499616" y="2798064"/>
            <a:ext cx="310896" cy="310896"/>
          </a:xfrm>
          <a:prstGeom prst="ellipse">
            <a:avLst/>
          </a:prstGeom>
          <a:solidFill>
            <a:srgbClr val="FFFFFF"/>
          </a:solidFill>
          <a:ln w="1079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1517904" y="2866644"/>
            <a:ext cx="27432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111111"/>
                </a:solidFill>
                <a:latin typeface="Noto Sans CJK KR"/>
              </a:defRPr>
            </a:pPr>
            <a:r>
              <a:t>11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2487168" y="2313432"/>
            <a:ext cx="1947672" cy="0"/>
          </a:xfrm>
          <a:prstGeom prst="line">
            <a:avLst/>
          </a:prstGeom>
          <a:ln w="8890">
            <a:solidFill>
              <a:srgbClr val="D1D1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4434840" y="2313432"/>
            <a:ext cx="1947672" cy="0"/>
          </a:xfrm>
          <a:prstGeom prst="line">
            <a:avLst/>
          </a:prstGeom>
          <a:ln w="8890">
            <a:solidFill>
              <a:srgbClr val="D1D1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6382512" y="2313432"/>
            <a:ext cx="1947671" cy="0"/>
          </a:xfrm>
          <a:prstGeom prst="line">
            <a:avLst/>
          </a:prstGeom>
          <a:ln w="8890">
            <a:solidFill>
              <a:srgbClr val="D1D1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8330183" y="2313432"/>
            <a:ext cx="1097281" cy="640080"/>
          </a:xfrm>
          <a:prstGeom prst="line">
            <a:avLst/>
          </a:prstGeom>
          <a:ln w="8890">
            <a:solidFill>
              <a:srgbClr val="D1D1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9427464" y="2953512"/>
            <a:ext cx="0" cy="1060703"/>
          </a:xfrm>
          <a:prstGeom prst="line">
            <a:avLst/>
          </a:prstGeom>
          <a:ln w="8890">
            <a:solidFill>
              <a:srgbClr val="D1D1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H="1">
            <a:off x="8339327" y="4014215"/>
            <a:ext cx="1088137" cy="374905"/>
          </a:xfrm>
          <a:prstGeom prst="line">
            <a:avLst/>
          </a:prstGeom>
          <a:ln w="8890">
            <a:solidFill>
              <a:srgbClr val="D1D1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H="1">
            <a:off x="6382512" y="4389120"/>
            <a:ext cx="1956815" cy="0"/>
          </a:xfrm>
          <a:prstGeom prst="line">
            <a:avLst/>
          </a:prstGeom>
          <a:ln w="8890">
            <a:solidFill>
              <a:srgbClr val="D1D1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H="1">
            <a:off x="4434840" y="4389120"/>
            <a:ext cx="1947672" cy="0"/>
          </a:xfrm>
          <a:prstGeom prst="line">
            <a:avLst/>
          </a:prstGeom>
          <a:ln w="8890">
            <a:solidFill>
              <a:srgbClr val="D1D1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H="1">
            <a:off x="2487168" y="4389120"/>
            <a:ext cx="1947672" cy="0"/>
          </a:xfrm>
          <a:prstGeom prst="line">
            <a:avLst/>
          </a:prstGeom>
          <a:ln w="8890">
            <a:solidFill>
              <a:srgbClr val="D1D1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H="1" flipV="1">
            <a:off x="1655064" y="4023360"/>
            <a:ext cx="832104" cy="365760"/>
          </a:xfrm>
          <a:prstGeom prst="line">
            <a:avLst/>
          </a:prstGeom>
          <a:ln w="8890">
            <a:solidFill>
              <a:srgbClr val="D1D1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1655064" y="2953512"/>
            <a:ext cx="0" cy="1069848"/>
          </a:xfrm>
          <a:prstGeom prst="line">
            <a:avLst/>
          </a:prstGeom>
          <a:ln w="8890">
            <a:solidFill>
              <a:srgbClr val="D1D1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1655064" y="2313432"/>
            <a:ext cx="832104" cy="640080"/>
          </a:xfrm>
          <a:prstGeom prst="line">
            <a:avLst/>
          </a:prstGeom>
          <a:ln w="8890">
            <a:solidFill>
              <a:srgbClr val="D1D1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914400" y="4974336"/>
            <a:ext cx="10451592" cy="5577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11111"/>
                </a:solidFill>
                <a:latin typeface="Noto Sans CJK KR"/>
              </a:defRPr>
            </a:pPr>
            <a:r>
              <a:t>0~3 상단 a  →  4~5 오른쪽 b,c  →  6~9 하단 d  →  10~11 왼쪽 e,f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14400" y="5614416"/>
            <a:ext cx="103327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D6D6D"/>
                </a:solidFill>
                <a:latin typeface="Noto Sans CJK KR"/>
              </a:defRPr>
            </a:pPr>
            <a:r>
              <a:t>PAUSE 5초 무입력 이후 시작   /   버튼 입력 또는 PAUSE 이탈 시 해제</a:t>
            </a:r>
          </a:p>
        </p:txBody>
      </p:sp>
      <p:cxnSp>
        <p:nvCxnSpPr>
          <p:cNvPr id="73" name="Connector 72"/>
          <p:cNvCxnSpPr/>
          <p:nvPr/>
        </p:nvCxnSpPr>
        <p:spPr>
          <a:xfrm>
            <a:off x="640080" y="6345936"/>
            <a:ext cx="10927080" cy="0"/>
          </a:xfrm>
          <a:prstGeom prst="line">
            <a:avLst/>
          </a:prstGeom>
          <a:ln w="8890">
            <a:solidFill>
              <a:srgbClr val="D1D1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6D6D6D"/>
                </a:solidFill>
                <a:latin typeface="Noto Sans CJK KR"/>
              </a:defRPr>
            </a:pPr>
            <a:r>
              <a:t>SOURCE CODE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94360" y="704088"/>
            <a:ext cx="11000232" cy="0"/>
          </a:xfrm>
          <a:prstGeom prst="line">
            <a:avLst/>
          </a:prstGeom>
          <a:ln w="11430">
            <a:solidFill>
              <a:srgbClr val="D1D1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12648" y="896112"/>
            <a:ext cx="10954512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11111"/>
                </a:solidFill>
                <a:latin typeface="Noto Sans CJK KR"/>
              </a:defRPr>
            </a:pPr>
            <a:r>
              <a:t>02  구현 내용 | TOP Integration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813816" y="2011680"/>
            <a:ext cx="10607040" cy="239572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24128" y="2148840"/>
            <a:ext cx="10186415" cy="21214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42424"/>
                </a:solidFill>
                <a:latin typeface="Noto Sans Mono CJK KR"/>
              </a:defRPr>
            </a:pPr>
            <a:r>
              <a:rPr dirty="0" err="1"/>
              <a:t>tick_generator</a:t>
            </a:r>
            <a:r>
              <a:rPr dirty="0"/>
              <a:t> #(.</a:t>
            </a:r>
            <a:r>
              <a:rPr dirty="0" err="1"/>
              <a:t>TICK_Hz</a:t>
            </a:r>
            <a:r>
              <a:rPr dirty="0"/>
              <a:t>(100)) u_tick_10ms (...);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42424"/>
                </a:solidFill>
                <a:latin typeface="Noto Sans Mono CJK KR"/>
              </a:defRPr>
            </a:pPr>
            <a:r>
              <a:rPr dirty="0" err="1"/>
              <a:t>tick_generator</a:t>
            </a:r>
            <a:r>
              <a:rPr dirty="0"/>
              <a:t> #(.</a:t>
            </a:r>
            <a:r>
              <a:rPr dirty="0" err="1"/>
              <a:t>TICK_Hz</a:t>
            </a:r>
            <a:r>
              <a:rPr dirty="0"/>
              <a:t>(1000)) u_tick_1ms (...);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42424"/>
                </a:solidFill>
                <a:latin typeface="Noto Sans Mono CJK KR"/>
              </a:defRPr>
            </a:pPr>
            <a:endParaRPr dirty="0"/>
          </a:p>
          <a:p>
            <a:pPr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42424"/>
                </a:solidFill>
                <a:latin typeface="Noto Sans Mono CJK KR"/>
              </a:defRPr>
            </a:pPr>
            <a:r>
              <a:rPr dirty="0"/>
              <a:t>assign </a:t>
            </a:r>
            <a:r>
              <a:rPr dirty="0" err="1"/>
              <a:t>w_display_bcd</a:t>
            </a:r>
            <a:r>
              <a:rPr dirty="0"/>
              <a:t> = (</a:t>
            </a:r>
            <a:r>
              <a:rPr dirty="0" err="1"/>
              <a:t>w_mode</a:t>
            </a:r>
            <a:r>
              <a:rPr dirty="0"/>
              <a:t> == 2'b00)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42424"/>
                </a:solidFill>
                <a:latin typeface="Noto Sans Mono CJK KR"/>
              </a:defRPr>
            </a:pPr>
            <a:r>
              <a:rPr dirty="0"/>
              <a:t>                       ? </a:t>
            </a:r>
            <a:r>
              <a:rPr dirty="0" err="1"/>
              <a:t>w_clock_bcd</a:t>
            </a:r>
            <a:r>
              <a:rPr dirty="0"/>
              <a:t> : </a:t>
            </a:r>
            <a:r>
              <a:rPr dirty="0" err="1"/>
              <a:t>w_stopwatch_bcd</a:t>
            </a:r>
            <a:r>
              <a:rPr dirty="0"/>
              <a:t>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4727448"/>
            <a:ext cx="365760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11111"/>
                </a:solidFill>
                <a:latin typeface="Noto Sans Mono CJK KR"/>
              </a:defRPr>
            </a:pPr>
            <a:r>
              <a:t>w_tick_10ms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32704" y="4727448"/>
            <a:ext cx="551383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6D6D6D"/>
                </a:solidFill>
                <a:latin typeface="Noto Sans CJK KR"/>
              </a:defRPr>
            </a:pPr>
            <a:r>
              <a:t>Counter · Animation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5212080"/>
            <a:ext cx="365760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11111"/>
                </a:solidFill>
                <a:latin typeface="Noto Sans Mono CJK KR"/>
              </a:defRPr>
            </a:pPr>
            <a:r>
              <a:t>w_tick_1ms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32704" y="5212080"/>
            <a:ext cx="551383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6D6D6D"/>
                </a:solidFill>
                <a:latin typeface="Noto Sans CJK KR"/>
              </a:defRPr>
            </a:pPr>
            <a:r>
              <a:t>FND scan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" y="5696712"/>
            <a:ext cx="365760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11111"/>
                </a:solidFill>
                <a:latin typeface="Noto Sans Mono CJK KR"/>
              </a:defRPr>
            </a:pPr>
            <a:r>
              <a:t>w_anim_active / w_anim_step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32704" y="5696712"/>
            <a:ext cx="551383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6D6D6D"/>
                </a:solidFill>
                <a:latin typeface="Noto Sans CJK KR"/>
              </a:defRPr>
            </a:pPr>
            <a:r>
              <a:t>FND display override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40080" y="6345936"/>
            <a:ext cx="10927080" cy="0"/>
          </a:xfrm>
          <a:prstGeom prst="line">
            <a:avLst/>
          </a:prstGeom>
          <a:ln w="8890">
            <a:solidFill>
              <a:srgbClr val="D1D1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6D6D6D"/>
                </a:solidFill>
                <a:latin typeface="Noto Sans CJK KR"/>
              </a:defRPr>
            </a:pPr>
            <a:r>
              <a:t>VERIFICATION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94360" y="704088"/>
            <a:ext cx="11000232" cy="0"/>
          </a:xfrm>
          <a:prstGeom prst="line">
            <a:avLst/>
          </a:prstGeom>
          <a:ln w="11430">
            <a:solidFill>
              <a:srgbClr val="D1D1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12648" y="896112"/>
            <a:ext cx="10954512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11111"/>
                </a:solidFill>
                <a:latin typeface="Noto Sans CJK KR"/>
              </a:defRPr>
            </a:pPr>
            <a:r>
              <a:t>02  검증 | FSM · Button Edge Timing Chart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127248" y="2432304"/>
            <a:ext cx="822960" cy="0"/>
          </a:xfrm>
          <a:prstGeom prst="line">
            <a:avLst/>
          </a:prstGeom>
          <a:ln w="2540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310128" y="2615184"/>
            <a:ext cx="475488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11111"/>
                </a:solidFill>
                <a:latin typeface="Noto Sans Mono CJK KR"/>
              </a:defRPr>
            </a:pPr>
            <a:r>
              <a:t>00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050791" y="2432304"/>
            <a:ext cx="822961" cy="0"/>
          </a:xfrm>
          <a:prstGeom prst="line">
            <a:avLst/>
          </a:prstGeom>
          <a:ln w="2540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233672" y="2615184"/>
            <a:ext cx="475488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11111"/>
                </a:solidFill>
                <a:latin typeface="Noto Sans Mono CJK KR"/>
              </a:defRPr>
            </a:pPr>
            <a:r>
              <a:t>00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050791" y="2414016"/>
            <a:ext cx="0" cy="374904"/>
          </a:xfrm>
          <a:prstGeom prst="line">
            <a:avLst/>
          </a:prstGeom>
          <a:ln w="10160">
            <a:solidFill>
              <a:srgbClr val="D1D1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974336" y="2432304"/>
            <a:ext cx="822960" cy="0"/>
          </a:xfrm>
          <a:prstGeom prst="line">
            <a:avLst/>
          </a:prstGeom>
          <a:ln w="2540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157216" y="2615184"/>
            <a:ext cx="475488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11111"/>
                </a:solidFill>
                <a:latin typeface="Noto Sans Mono CJK KR"/>
              </a:defRPr>
            </a:pPr>
            <a:r>
              <a:t>01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974336" y="2414016"/>
            <a:ext cx="0" cy="374904"/>
          </a:xfrm>
          <a:prstGeom prst="line">
            <a:avLst/>
          </a:prstGeom>
          <a:ln w="10160">
            <a:solidFill>
              <a:srgbClr val="D1D1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897880" y="2432304"/>
            <a:ext cx="822960" cy="0"/>
          </a:xfrm>
          <a:prstGeom prst="line">
            <a:avLst/>
          </a:prstGeom>
          <a:ln w="2540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080760" y="2615184"/>
            <a:ext cx="475488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11111"/>
                </a:solidFill>
                <a:latin typeface="Noto Sans Mono CJK KR"/>
              </a:defRPr>
            </a:pPr>
            <a:r>
              <a:t>01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897880" y="2414016"/>
            <a:ext cx="0" cy="374904"/>
          </a:xfrm>
          <a:prstGeom prst="line">
            <a:avLst/>
          </a:prstGeom>
          <a:ln w="10160">
            <a:solidFill>
              <a:srgbClr val="D1D1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821424" y="2432304"/>
            <a:ext cx="822959" cy="0"/>
          </a:xfrm>
          <a:prstGeom prst="line">
            <a:avLst/>
          </a:prstGeom>
          <a:ln w="2540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004304" y="2615184"/>
            <a:ext cx="475488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11111"/>
                </a:solidFill>
                <a:latin typeface="Noto Sans Mono CJK KR"/>
              </a:defRPr>
            </a:pPr>
            <a:r>
              <a:t>10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821424" y="2414016"/>
            <a:ext cx="0" cy="374904"/>
          </a:xfrm>
          <a:prstGeom prst="line">
            <a:avLst/>
          </a:prstGeom>
          <a:ln w="10160">
            <a:solidFill>
              <a:srgbClr val="D1D1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744967" y="2432304"/>
            <a:ext cx="822961" cy="0"/>
          </a:xfrm>
          <a:prstGeom prst="line">
            <a:avLst/>
          </a:prstGeom>
          <a:ln w="2540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927847" y="2615184"/>
            <a:ext cx="475488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11111"/>
                </a:solidFill>
                <a:latin typeface="Noto Sans Mono CJK KR"/>
              </a:defRPr>
            </a:pPr>
            <a:r>
              <a:t>10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744967" y="2414016"/>
            <a:ext cx="0" cy="374904"/>
          </a:xfrm>
          <a:prstGeom prst="line">
            <a:avLst/>
          </a:prstGeom>
          <a:ln w="10160">
            <a:solidFill>
              <a:srgbClr val="D1D1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668512" y="2432304"/>
            <a:ext cx="822960" cy="0"/>
          </a:xfrm>
          <a:prstGeom prst="line">
            <a:avLst/>
          </a:prstGeom>
          <a:ln w="2540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8851392" y="2615184"/>
            <a:ext cx="475488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11111"/>
                </a:solidFill>
                <a:latin typeface="Noto Sans Mono CJK KR"/>
              </a:defRPr>
            </a:pPr>
            <a:r>
              <a:t>01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668512" y="2414016"/>
            <a:ext cx="0" cy="374904"/>
          </a:xfrm>
          <a:prstGeom prst="line">
            <a:avLst/>
          </a:prstGeom>
          <a:ln w="10160">
            <a:solidFill>
              <a:srgbClr val="D1D1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9592056" y="2432304"/>
            <a:ext cx="822960" cy="0"/>
          </a:xfrm>
          <a:prstGeom prst="line">
            <a:avLst/>
          </a:prstGeom>
          <a:ln w="2540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9774936" y="2615184"/>
            <a:ext cx="475488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11111"/>
                </a:solidFill>
                <a:latin typeface="Noto Sans Mono CJK KR"/>
              </a:defRPr>
            </a:pPr>
            <a:r>
              <a:t>01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592056" y="2414016"/>
            <a:ext cx="0" cy="374904"/>
          </a:xfrm>
          <a:prstGeom prst="line">
            <a:avLst/>
          </a:prstGeom>
          <a:ln w="10160">
            <a:solidFill>
              <a:srgbClr val="D1D1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0515600" y="2432304"/>
            <a:ext cx="822960" cy="0"/>
          </a:xfrm>
          <a:prstGeom prst="line">
            <a:avLst/>
          </a:prstGeom>
          <a:ln w="2540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10698480" y="2615184"/>
            <a:ext cx="475488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11111"/>
                </a:solidFill>
                <a:latin typeface="Noto Sans Mono CJK KR"/>
              </a:defRPr>
            </a:pPr>
            <a:r>
              <a:t>00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0515600" y="2414016"/>
            <a:ext cx="0" cy="374904"/>
          </a:xfrm>
          <a:prstGeom prst="line">
            <a:avLst/>
          </a:prstGeom>
          <a:ln w="10160">
            <a:solidFill>
              <a:srgbClr val="D1D1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960120" y="2487168"/>
            <a:ext cx="164592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11111"/>
                </a:solidFill>
                <a:latin typeface="Noto Sans CJK KR"/>
              </a:defRPr>
            </a:pPr>
            <a:r>
              <a:t>state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0120" y="3172968"/>
            <a:ext cx="2121408" cy="3383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11111"/>
                </a:solidFill>
                <a:latin typeface="Noto Sans CJK KR"/>
              </a:defRPr>
            </a:pPr>
            <a:r>
              <a:t>BTNL pulse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3108960" y="3465576"/>
            <a:ext cx="925575" cy="0"/>
          </a:xfrm>
          <a:prstGeom prst="line">
            <a:avLst/>
          </a:prstGeom>
          <a:ln w="2159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4034535" y="3465576"/>
            <a:ext cx="925577" cy="0"/>
          </a:xfrm>
          <a:prstGeom prst="line">
            <a:avLst/>
          </a:prstGeom>
          <a:ln w="2159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4960112" y="3127248"/>
            <a:ext cx="0" cy="338328"/>
          </a:xfrm>
          <a:prstGeom prst="line">
            <a:avLst/>
          </a:prstGeom>
          <a:ln w="2159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4960112" y="3127248"/>
            <a:ext cx="925575" cy="0"/>
          </a:xfrm>
          <a:prstGeom prst="line">
            <a:avLst/>
          </a:prstGeom>
          <a:ln w="2159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5885687" y="3127248"/>
            <a:ext cx="0" cy="338328"/>
          </a:xfrm>
          <a:prstGeom prst="line">
            <a:avLst/>
          </a:prstGeom>
          <a:ln w="2159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5885687" y="3465576"/>
            <a:ext cx="925576" cy="0"/>
          </a:xfrm>
          <a:prstGeom prst="line">
            <a:avLst/>
          </a:prstGeom>
          <a:ln w="2159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6811263" y="3465576"/>
            <a:ext cx="925576" cy="0"/>
          </a:xfrm>
          <a:prstGeom prst="line">
            <a:avLst/>
          </a:prstGeom>
          <a:ln w="2159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7736839" y="3465576"/>
            <a:ext cx="925577" cy="0"/>
          </a:xfrm>
          <a:prstGeom prst="line">
            <a:avLst/>
          </a:prstGeom>
          <a:ln w="2159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8662416" y="3465576"/>
            <a:ext cx="925576" cy="0"/>
          </a:xfrm>
          <a:prstGeom prst="line">
            <a:avLst/>
          </a:prstGeom>
          <a:ln w="2159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9587992" y="3465576"/>
            <a:ext cx="925576" cy="0"/>
          </a:xfrm>
          <a:prstGeom prst="line">
            <a:avLst/>
          </a:prstGeom>
          <a:ln w="2159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10513568" y="3127248"/>
            <a:ext cx="0" cy="338328"/>
          </a:xfrm>
          <a:prstGeom prst="line">
            <a:avLst/>
          </a:prstGeom>
          <a:ln w="2159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10513568" y="3127248"/>
            <a:ext cx="925576" cy="0"/>
          </a:xfrm>
          <a:prstGeom prst="line">
            <a:avLst/>
          </a:prstGeom>
          <a:ln w="2159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960120" y="3977639"/>
            <a:ext cx="2121408" cy="3383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11111"/>
                </a:solidFill>
                <a:latin typeface="Noto Sans CJK KR"/>
              </a:defRPr>
            </a:pPr>
            <a:r>
              <a:t>BTNR pulse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3108960" y="4270248"/>
            <a:ext cx="925575" cy="0"/>
          </a:xfrm>
          <a:prstGeom prst="line">
            <a:avLst/>
          </a:prstGeom>
          <a:ln w="2159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4034535" y="4270248"/>
            <a:ext cx="925577" cy="0"/>
          </a:xfrm>
          <a:prstGeom prst="line">
            <a:avLst/>
          </a:prstGeom>
          <a:ln w="2159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4960112" y="4270248"/>
            <a:ext cx="925575" cy="0"/>
          </a:xfrm>
          <a:prstGeom prst="line">
            <a:avLst/>
          </a:prstGeom>
          <a:ln w="2159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5885687" y="4270248"/>
            <a:ext cx="925576" cy="0"/>
          </a:xfrm>
          <a:prstGeom prst="line">
            <a:avLst/>
          </a:prstGeom>
          <a:ln w="2159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6811263" y="3931920"/>
            <a:ext cx="0" cy="338328"/>
          </a:xfrm>
          <a:prstGeom prst="line">
            <a:avLst/>
          </a:prstGeom>
          <a:ln w="2159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6811263" y="3931920"/>
            <a:ext cx="925576" cy="0"/>
          </a:xfrm>
          <a:prstGeom prst="line">
            <a:avLst/>
          </a:prstGeom>
          <a:ln w="2159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7736839" y="3931920"/>
            <a:ext cx="0" cy="338328"/>
          </a:xfrm>
          <a:prstGeom prst="line">
            <a:avLst/>
          </a:prstGeom>
          <a:ln w="2159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7736839" y="4270248"/>
            <a:ext cx="925577" cy="0"/>
          </a:xfrm>
          <a:prstGeom prst="line">
            <a:avLst/>
          </a:prstGeom>
          <a:ln w="2159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8662416" y="3931920"/>
            <a:ext cx="0" cy="338328"/>
          </a:xfrm>
          <a:prstGeom prst="line">
            <a:avLst/>
          </a:prstGeom>
          <a:ln w="2159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8662416" y="3931920"/>
            <a:ext cx="925576" cy="0"/>
          </a:xfrm>
          <a:prstGeom prst="line">
            <a:avLst/>
          </a:prstGeom>
          <a:ln w="2159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9587992" y="3931920"/>
            <a:ext cx="0" cy="338328"/>
          </a:xfrm>
          <a:prstGeom prst="line">
            <a:avLst/>
          </a:prstGeom>
          <a:ln w="2159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9587992" y="4270248"/>
            <a:ext cx="925576" cy="0"/>
          </a:xfrm>
          <a:prstGeom prst="line">
            <a:avLst/>
          </a:prstGeom>
          <a:ln w="2159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10513568" y="4270248"/>
            <a:ext cx="925576" cy="0"/>
          </a:xfrm>
          <a:prstGeom prst="line">
            <a:avLst/>
          </a:prstGeom>
          <a:ln w="2159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960120" y="4782312"/>
            <a:ext cx="2121408" cy="3383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11111"/>
                </a:solidFill>
                <a:latin typeface="Noto Sans CJK KR"/>
              </a:defRPr>
            </a:pPr>
            <a:r>
              <a:t>sw_run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3108960" y="5074920"/>
            <a:ext cx="925575" cy="0"/>
          </a:xfrm>
          <a:prstGeom prst="line">
            <a:avLst/>
          </a:prstGeom>
          <a:ln w="2159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4034535" y="5074920"/>
            <a:ext cx="925577" cy="0"/>
          </a:xfrm>
          <a:prstGeom prst="line">
            <a:avLst/>
          </a:prstGeom>
          <a:ln w="2159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4960112" y="4736592"/>
            <a:ext cx="0" cy="338328"/>
          </a:xfrm>
          <a:prstGeom prst="line">
            <a:avLst/>
          </a:prstGeom>
          <a:ln w="2159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4960112" y="4736592"/>
            <a:ext cx="925575" cy="0"/>
          </a:xfrm>
          <a:prstGeom prst="line">
            <a:avLst/>
          </a:prstGeom>
          <a:ln w="2159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5885687" y="4736592"/>
            <a:ext cx="925576" cy="0"/>
          </a:xfrm>
          <a:prstGeom prst="line">
            <a:avLst/>
          </a:prstGeom>
          <a:ln w="2159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6811263" y="4736592"/>
            <a:ext cx="0" cy="338328"/>
          </a:xfrm>
          <a:prstGeom prst="line">
            <a:avLst/>
          </a:prstGeom>
          <a:ln w="2159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6811263" y="5074920"/>
            <a:ext cx="925576" cy="0"/>
          </a:xfrm>
          <a:prstGeom prst="line">
            <a:avLst/>
          </a:prstGeom>
          <a:ln w="2159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7736839" y="5074920"/>
            <a:ext cx="925577" cy="0"/>
          </a:xfrm>
          <a:prstGeom prst="line">
            <a:avLst/>
          </a:prstGeom>
          <a:ln w="2159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8662416" y="4736592"/>
            <a:ext cx="0" cy="338328"/>
          </a:xfrm>
          <a:prstGeom prst="line">
            <a:avLst/>
          </a:prstGeom>
          <a:ln w="2159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8662416" y="4736592"/>
            <a:ext cx="925576" cy="0"/>
          </a:xfrm>
          <a:prstGeom prst="line">
            <a:avLst/>
          </a:prstGeom>
          <a:ln w="2159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9587992" y="4736592"/>
            <a:ext cx="925576" cy="0"/>
          </a:xfrm>
          <a:prstGeom prst="line">
            <a:avLst/>
          </a:prstGeom>
          <a:ln w="2159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10513568" y="4736592"/>
            <a:ext cx="0" cy="338328"/>
          </a:xfrm>
          <a:prstGeom prst="line">
            <a:avLst/>
          </a:prstGeom>
          <a:ln w="2159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10513568" y="5074920"/>
            <a:ext cx="925576" cy="0"/>
          </a:xfrm>
          <a:prstGeom prst="line">
            <a:avLst/>
          </a:prstGeom>
          <a:ln w="2159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941832" y="5843016"/>
            <a:ext cx="10378440" cy="0"/>
          </a:xfrm>
          <a:prstGeom prst="line">
            <a:avLst/>
          </a:prstGeom>
          <a:ln w="9525">
            <a:solidFill>
              <a:srgbClr val="D1D1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TextBox 75"/>
          <p:cNvSpPr txBox="1"/>
          <p:nvPr/>
        </p:nvSpPr>
        <p:spPr>
          <a:xfrm>
            <a:off x="987552" y="5989320"/>
            <a:ext cx="10296144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11111"/>
                </a:solidFill>
                <a:latin typeface="Noto Sans CJK KR"/>
              </a:defRPr>
            </a:pPr>
            <a:r>
              <a:t>해석: BTN 펄스 1번당 1개 상태 전이 · STOPWATCH에서만 sw_run=1</a:t>
            </a:r>
          </a:p>
        </p:txBody>
      </p:sp>
      <p:cxnSp>
        <p:nvCxnSpPr>
          <p:cNvPr id="77" name="Connector 76"/>
          <p:cNvCxnSpPr/>
          <p:nvPr/>
        </p:nvCxnSpPr>
        <p:spPr>
          <a:xfrm>
            <a:off x="640080" y="6345936"/>
            <a:ext cx="10927080" cy="0"/>
          </a:xfrm>
          <a:prstGeom prst="line">
            <a:avLst/>
          </a:prstGeom>
          <a:ln w="8890">
            <a:solidFill>
              <a:srgbClr val="D1D1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6D6D6D"/>
                </a:solidFill>
                <a:latin typeface="Noto Sans CJK KR"/>
              </a:defRPr>
            </a:pPr>
            <a:r>
              <a:t>VERIFICATION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94360" y="704088"/>
            <a:ext cx="11000232" cy="0"/>
          </a:xfrm>
          <a:prstGeom prst="line">
            <a:avLst/>
          </a:prstGeom>
          <a:ln w="11430">
            <a:solidFill>
              <a:srgbClr val="D1D1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12648" y="896112"/>
            <a:ext cx="10954512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11111"/>
                </a:solidFill>
                <a:latin typeface="Noto Sans CJK KR"/>
              </a:defRPr>
            </a:pPr>
            <a:r>
              <a:t>02  검증 | Tick Generator Timing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72184"/>
            <a:ext cx="10936224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D6D6D"/>
                </a:solidFill>
                <a:latin typeface="Noto Sans CJK KR"/>
              </a:defRPr>
            </a:pPr>
            <a:r>
              <a:t>축소 TB: INPUT_FREQ=100, TICK_Hz=10 → TICK_COUNT=10 · 10ns Clock 주기 가정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039112"/>
            <a:ext cx="43891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6D6D6D"/>
                </a:solidFill>
                <a:latin typeface="Noto Sans CJK KR"/>
              </a:defRPr>
            </a:pPr>
            <a:r>
              <a:t>CLK 주기 10 ns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139696" y="2642616"/>
            <a:ext cx="0" cy="2670048"/>
          </a:xfrm>
          <a:prstGeom prst="line">
            <a:avLst/>
          </a:prstGeom>
          <a:ln w="8890">
            <a:solidFill>
              <a:srgbClr val="EAEA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892807" y="2286000"/>
            <a:ext cx="722376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D6D6D"/>
                </a:solidFill>
                <a:latin typeface="Noto Sans CJK KR"/>
              </a:defRPr>
            </a:pPr>
            <a:r>
              <a:t>0ns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421124" y="2642616"/>
            <a:ext cx="0" cy="2670048"/>
          </a:xfrm>
          <a:prstGeom prst="line">
            <a:avLst/>
          </a:prstGeom>
          <a:ln w="8890">
            <a:solidFill>
              <a:srgbClr val="EAEA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174235" y="2286000"/>
            <a:ext cx="722376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D6D6D"/>
                </a:solidFill>
                <a:latin typeface="Noto Sans CJK KR"/>
              </a:defRPr>
            </a:pPr>
            <a:r>
              <a:t>50ns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702552" y="2642616"/>
            <a:ext cx="0" cy="2670048"/>
          </a:xfrm>
          <a:prstGeom prst="line">
            <a:avLst/>
          </a:prstGeom>
          <a:ln w="8890">
            <a:solidFill>
              <a:srgbClr val="EAEA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455664" y="2286000"/>
            <a:ext cx="722376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D6D6D"/>
                </a:solidFill>
                <a:latin typeface="Noto Sans CJK KR"/>
              </a:defRPr>
            </a:pPr>
            <a:r>
              <a:t>100ns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983980" y="2642616"/>
            <a:ext cx="0" cy="2670048"/>
          </a:xfrm>
          <a:prstGeom prst="line">
            <a:avLst/>
          </a:prstGeom>
          <a:ln w="8890">
            <a:solidFill>
              <a:srgbClr val="EAEA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737092" y="2286000"/>
            <a:ext cx="722376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D6D6D"/>
                </a:solidFill>
                <a:latin typeface="Noto Sans CJK KR"/>
              </a:defRPr>
            </a:pPr>
            <a:r>
              <a:t>150ns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1265408" y="2642616"/>
            <a:ext cx="0" cy="2670048"/>
          </a:xfrm>
          <a:prstGeom prst="line">
            <a:avLst/>
          </a:prstGeom>
          <a:ln w="8890">
            <a:solidFill>
              <a:srgbClr val="EAEA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1018520" y="2286000"/>
            <a:ext cx="722376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D6D6D"/>
                </a:solidFill>
                <a:latin typeface="Noto Sans CJK KR"/>
              </a:defRPr>
            </a:pPr>
            <a:r>
              <a:t>200ns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3035808"/>
            <a:ext cx="914400" cy="2834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11111"/>
                </a:solidFill>
                <a:latin typeface="Noto Sans CJK KR"/>
              </a:defRPr>
            </a:pPr>
            <a:r>
              <a:t>clk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139696" y="3273552"/>
            <a:ext cx="228142" cy="0"/>
          </a:xfrm>
          <a:prstGeom prst="line">
            <a:avLst/>
          </a:prstGeom>
          <a:ln w="2159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367838" y="2944368"/>
            <a:ext cx="0" cy="329184"/>
          </a:xfrm>
          <a:prstGeom prst="line">
            <a:avLst/>
          </a:prstGeom>
          <a:ln w="2159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2367838" y="2944368"/>
            <a:ext cx="228143" cy="0"/>
          </a:xfrm>
          <a:prstGeom prst="line">
            <a:avLst/>
          </a:prstGeom>
          <a:ln w="2159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2595981" y="2944368"/>
            <a:ext cx="0" cy="329184"/>
          </a:xfrm>
          <a:prstGeom prst="line">
            <a:avLst/>
          </a:prstGeom>
          <a:ln w="2159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595981" y="3273552"/>
            <a:ext cx="228143" cy="0"/>
          </a:xfrm>
          <a:prstGeom prst="line">
            <a:avLst/>
          </a:prstGeom>
          <a:ln w="2159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2824124" y="2944368"/>
            <a:ext cx="0" cy="329184"/>
          </a:xfrm>
          <a:prstGeom prst="line">
            <a:avLst/>
          </a:prstGeom>
          <a:ln w="2159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824124" y="2944368"/>
            <a:ext cx="228143" cy="0"/>
          </a:xfrm>
          <a:prstGeom prst="line">
            <a:avLst/>
          </a:prstGeom>
          <a:ln w="2159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3052267" y="2944368"/>
            <a:ext cx="0" cy="329184"/>
          </a:xfrm>
          <a:prstGeom prst="line">
            <a:avLst/>
          </a:prstGeom>
          <a:ln w="2159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3052267" y="3273552"/>
            <a:ext cx="228143" cy="0"/>
          </a:xfrm>
          <a:prstGeom prst="line">
            <a:avLst/>
          </a:prstGeom>
          <a:ln w="2159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3280410" y="2944368"/>
            <a:ext cx="0" cy="329184"/>
          </a:xfrm>
          <a:prstGeom prst="line">
            <a:avLst/>
          </a:prstGeom>
          <a:ln w="2159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3280410" y="2944368"/>
            <a:ext cx="228142" cy="0"/>
          </a:xfrm>
          <a:prstGeom prst="line">
            <a:avLst/>
          </a:prstGeom>
          <a:ln w="2159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3508552" y="2944368"/>
            <a:ext cx="0" cy="329184"/>
          </a:xfrm>
          <a:prstGeom prst="line">
            <a:avLst/>
          </a:prstGeom>
          <a:ln w="2159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508552" y="3273552"/>
            <a:ext cx="228143" cy="0"/>
          </a:xfrm>
          <a:prstGeom prst="line">
            <a:avLst/>
          </a:prstGeom>
          <a:ln w="2159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3736695" y="2944368"/>
            <a:ext cx="0" cy="329184"/>
          </a:xfrm>
          <a:prstGeom prst="line">
            <a:avLst/>
          </a:prstGeom>
          <a:ln w="2159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736695" y="2944368"/>
            <a:ext cx="228143" cy="0"/>
          </a:xfrm>
          <a:prstGeom prst="line">
            <a:avLst/>
          </a:prstGeom>
          <a:ln w="2159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964838" y="2944368"/>
            <a:ext cx="0" cy="329184"/>
          </a:xfrm>
          <a:prstGeom prst="line">
            <a:avLst/>
          </a:prstGeom>
          <a:ln w="2159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964838" y="3273552"/>
            <a:ext cx="228143" cy="0"/>
          </a:xfrm>
          <a:prstGeom prst="line">
            <a:avLst/>
          </a:prstGeom>
          <a:ln w="2159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4192981" y="2944368"/>
            <a:ext cx="0" cy="329184"/>
          </a:xfrm>
          <a:prstGeom prst="line">
            <a:avLst/>
          </a:prstGeom>
          <a:ln w="2159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4192981" y="2944368"/>
            <a:ext cx="228143" cy="0"/>
          </a:xfrm>
          <a:prstGeom prst="line">
            <a:avLst/>
          </a:prstGeom>
          <a:ln w="2159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4421124" y="2944368"/>
            <a:ext cx="0" cy="329184"/>
          </a:xfrm>
          <a:prstGeom prst="line">
            <a:avLst/>
          </a:prstGeom>
          <a:ln w="2159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4421124" y="3273552"/>
            <a:ext cx="228142" cy="0"/>
          </a:xfrm>
          <a:prstGeom prst="line">
            <a:avLst/>
          </a:prstGeom>
          <a:ln w="2159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4649266" y="2944368"/>
            <a:ext cx="0" cy="329184"/>
          </a:xfrm>
          <a:prstGeom prst="line">
            <a:avLst/>
          </a:prstGeom>
          <a:ln w="2159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4649266" y="2944368"/>
            <a:ext cx="228143" cy="0"/>
          </a:xfrm>
          <a:prstGeom prst="line">
            <a:avLst/>
          </a:prstGeom>
          <a:ln w="2159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877409" y="2944368"/>
            <a:ext cx="0" cy="329184"/>
          </a:xfrm>
          <a:prstGeom prst="line">
            <a:avLst/>
          </a:prstGeom>
          <a:ln w="2159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877409" y="3273552"/>
            <a:ext cx="228143" cy="0"/>
          </a:xfrm>
          <a:prstGeom prst="line">
            <a:avLst/>
          </a:prstGeom>
          <a:ln w="2159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5105552" y="2944368"/>
            <a:ext cx="0" cy="329184"/>
          </a:xfrm>
          <a:prstGeom prst="line">
            <a:avLst/>
          </a:prstGeom>
          <a:ln w="2159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5105552" y="2944368"/>
            <a:ext cx="228143" cy="0"/>
          </a:xfrm>
          <a:prstGeom prst="line">
            <a:avLst/>
          </a:prstGeom>
          <a:ln w="2159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5333695" y="2944368"/>
            <a:ext cx="0" cy="329184"/>
          </a:xfrm>
          <a:prstGeom prst="line">
            <a:avLst/>
          </a:prstGeom>
          <a:ln w="2159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5333695" y="3273552"/>
            <a:ext cx="228143" cy="0"/>
          </a:xfrm>
          <a:prstGeom prst="line">
            <a:avLst/>
          </a:prstGeom>
          <a:ln w="2159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5561838" y="2944368"/>
            <a:ext cx="0" cy="329184"/>
          </a:xfrm>
          <a:prstGeom prst="line">
            <a:avLst/>
          </a:prstGeom>
          <a:ln w="2159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5561838" y="2944368"/>
            <a:ext cx="228142" cy="0"/>
          </a:xfrm>
          <a:prstGeom prst="line">
            <a:avLst/>
          </a:prstGeom>
          <a:ln w="2159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5789980" y="2944368"/>
            <a:ext cx="0" cy="329184"/>
          </a:xfrm>
          <a:prstGeom prst="line">
            <a:avLst/>
          </a:prstGeom>
          <a:ln w="2159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5789980" y="3273552"/>
            <a:ext cx="228143" cy="0"/>
          </a:xfrm>
          <a:prstGeom prst="line">
            <a:avLst/>
          </a:prstGeom>
          <a:ln w="2159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6018123" y="2944368"/>
            <a:ext cx="0" cy="329184"/>
          </a:xfrm>
          <a:prstGeom prst="line">
            <a:avLst/>
          </a:prstGeom>
          <a:ln w="2159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6018123" y="2944368"/>
            <a:ext cx="228143" cy="0"/>
          </a:xfrm>
          <a:prstGeom prst="line">
            <a:avLst/>
          </a:prstGeom>
          <a:ln w="2159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6246266" y="2944368"/>
            <a:ext cx="0" cy="329184"/>
          </a:xfrm>
          <a:prstGeom prst="line">
            <a:avLst/>
          </a:prstGeom>
          <a:ln w="2159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6246266" y="3273552"/>
            <a:ext cx="228143" cy="0"/>
          </a:xfrm>
          <a:prstGeom prst="line">
            <a:avLst/>
          </a:prstGeom>
          <a:ln w="2159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6474409" y="2944368"/>
            <a:ext cx="0" cy="329184"/>
          </a:xfrm>
          <a:prstGeom prst="line">
            <a:avLst/>
          </a:prstGeom>
          <a:ln w="2159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6474409" y="2944368"/>
            <a:ext cx="228143" cy="0"/>
          </a:xfrm>
          <a:prstGeom prst="line">
            <a:avLst/>
          </a:prstGeom>
          <a:ln w="2159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6702552" y="2944368"/>
            <a:ext cx="0" cy="329184"/>
          </a:xfrm>
          <a:prstGeom prst="line">
            <a:avLst/>
          </a:prstGeom>
          <a:ln w="2159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6702552" y="3273552"/>
            <a:ext cx="228142" cy="0"/>
          </a:xfrm>
          <a:prstGeom prst="line">
            <a:avLst/>
          </a:prstGeom>
          <a:ln w="2159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6930694" y="2944368"/>
            <a:ext cx="0" cy="329184"/>
          </a:xfrm>
          <a:prstGeom prst="line">
            <a:avLst/>
          </a:prstGeom>
          <a:ln w="2159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6930694" y="2944368"/>
            <a:ext cx="228143" cy="0"/>
          </a:xfrm>
          <a:prstGeom prst="line">
            <a:avLst/>
          </a:prstGeom>
          <a:ln w="2159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7158837" y="2944368"/>
            <a:ext cx="0" cy="329184"/>
          </a:xfrm>
          <a:prstGeom prst="line">
            <a:avLst/>
          </a:prstGeom>
          <a:ln w="2159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7158837" y="3273552"/>
            <a:ext cx="228143" cy="0"/>
          </a:xfrm>
          <a:prstGeom prst="line">
            <a:avLst/>
          </a:prstGeom>
          <a:ln w="2159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7386980" y="2944368"/>
            <a:ext cx="0" cy="329184"/>
          </a:xfrm>
          <a:prstGeom prst="line">
            <a:avLst/>
          </a:prstGeom>
          <a:ln w="2159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7386980" y="2944368"/>
            <a:ext cx="228143" cy="0"/>
          </a:xfrm>
          <a:prstGeom prst="line">
            <a:avLst/>
          </a:prstGeom>
          <a:ln w="2159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7615123" y="2944368"/>
            <a:ext cx="0" cy="329184"/>
          </a:xfrm>
          <a:prstGeom prst="line">
            <a:avLst/>
          </a:prstGeom>
          <a:ln w="2159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7615123" y="3273552"/>
            <a:ext cx="228143" cy="0"/>
          </a:xfrm>
          <a:prstGeom prst="line">
            <a:avLst/>
          </a:prstGeom>
          <a:ln w="2159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7843266" y="2944368"/>
            <a:ext cx="0" cy="329184"/>
          </a:xfrm>
          <a:prstGeom prst="line">
            <a:avLst/>
          </a:prstGeom>
          <a:ln w="2159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7843266" y="2944368"/>
            <a:ext cx="228142" cy="0"/>
          </a:xfrm>
          <a:prstGeom prst="line">
            <a:avLst/>
          </a:prstGeom>
          <a:ln w="2159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8071408" y="2944368"/>
            <a:ext cx="0" cy="329184"/>
          </a:xfrm>
          <a:prstGeom prst="line">
            <a:avLst/>
          </a:prstGeom>
          <a:ln w="2159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8071408" y="3273552"/>
            <a:ext cx="228143" cy="0"/>
          </a:xfrm>
          <a:prstGeom prst="line">
            <a:avLst/>
          </a:prstGeom>
          <a:ln w="2159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8299551" y="2944368"/>
            <a:ext cx="0" cy="329184"/>
          </a:xfrm>
          <a:prstGeom prst="line">
            <a:avLst/>
          </a:prstGeom>
          <a:ln w="2159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8299551" y="2944368"/>
            <a:ext cx="228143" cy="0"/>
          </a:xfrm>
          <a:prstGeom prst="line">
            <a:avLst/>
          </a:prstGeom>
          <a:ln w="2159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8527694" y="2944368"/>
            <a:ext cx="0" cy="329184"/>
          </a:xfrm>
          <a:prstGeom prst="line">
            <a:avLst/>
          </a:prstGeom>
          <a:ln w="2159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8527694" y="3273552"/>
            <a:ext cx="228143" cy="0"/>
          </a:xfrm>
          <a:prstGeom prst="line">
            <a:avLst/>
          </a:prstGeom>
          <a:ln w="2159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8755837" y="2944368"/>
            <a:ext cx="0" cy="329184"/>
          </a:xfrm>
          <a:prstGeom prst="line">
            <a:avLst/>
          </a:prstGeom>
          <a:ln w="2159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8755837" y="2944368"/>
            <a:ext cx="228143" cy="0"/>
          </a:xfrm>
          <a:prstGeom prst="line">
            <a:avLst/>
          </a:prstGeom>
          <a:ln w="2159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8983980" y="2944368"/>
            <a:ext cx="0" cy="329184"/>
          </a:xfrm>
          <a:prstGeom prst="line">
            <a:avLst/>
          </a:prstGeom>
          <a:ln w="2159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8983980" y="3273552"/>
            <a:ext cx="228142" cy="0"/>
          </a:xfrm>
          <a:prstGeom prst="line">
            <a:avLst/>
          </a:prstGeom>
          <a:ln w="2159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9212122" y="2944368"/>
            <a:ext cx="0" cy="329184"/>
          </a:xfrm>
          <a:prstGeom prst="line">
            <a:avLst/>
          </a:prstGeom>
          <a:ln w="2159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9212122" y="2944368"/>
            <a:ext cx="228143" cy="0"/>
          </a:xfrm>
          <a:prstGeom prst="line">
            <a:avLst/>
          </a:prstGeom>
          <a:ln w="2159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9440265" y="2944368"/>
            <a:ext cx="0" cy="329184"/>
          </a:xfrm>
          <a:prstGeom prst="line">
            <a:avLst/>
          </a:prstGeom>
          <a:ln w="2159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9440265" y="3273552"/>
            <a:ext cx="228143" cy="0"/>
          </a:xfrm>
          <a:prstGeom prst="line">
            <a:avLst/>
          </a:prstGeom>
          <a:ln w="2159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9668408" y="2944368"/>
            <a:ext cx="0" cy="329184"/>
          </a:xfrm>
          <a:prstGeom prst="line">
            <a:avLst/>
          </a:prstGeom>
          <a:ln w="2159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9668408" y="2944368"/>
            <a:ext cx="228143" cy="0"/>
          </a:xfrm>
          <a:prstGeom prst="line">
            <a:avLst/>
          </a:prstGeom>
          <a:ln w="2159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9896551" y="2944368"/>
            <a:ext cx="0" cy="329184"/>
          </a:xfrm>
          <a:prstGeom prst="line">
            <a:avLst/>
          </a:prstGeom>
          <a:ln w="2159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9896551" y="3273552"/>
            <a:ext cx="228143" cy="0"/>
          </a:xfrm>
          <a:prstGeom prst="line">
            <a:avLst/>
          </a:prstGeom>
          <a:ln w="2159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10124694" y="2944368"/>
            <a:ext cx="0" cy="329184"/>
          </a:xfrm>
          <a:prstGeom prst="line">
            <a:avLst/>
          </a:prstGeom>
          <a:ln w="2159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10124694" y="2944368"/>
            <a:ext cx="228142" cy="0"/>
          </a:xfrm>
          <a:prstGeom prst="line">
            <a:avLst/>
          </a:prstGeom>
          <a:ln w="2159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10352836" y="2944368"/>
            <a:ext cx="0" cy="329184"/>
          </a:xfrm>
          <a:prstGeom prst="line">
            <a:avLst/>
          </a:prstGeom>
          <a:ln w="2159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10352836" y="3273552"/>
            <a:ext cx="228143" cy="0"/>
          </a:xfrm>
          <a:prstGeom prst="line">
            <a:avLst/>
          </a:prstGeom>
          <a:ln w="2159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V="1">
            <a:off x="10580979" y="2944368"/>
            <a:ext cx="0" cy="329184"/>
          </a:xfrm>
          <a:prstGeom prst="line">
            <a:avLst/>
          </a:prstGeom>
          <a:ln w="2159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10580979" y="2944368"/>
            <a:ext cx="228143" cy="0"/>
          </a:xfrm>
          <a:prstGeom prst="line">
            <a:avLst/>
          </a:prstGeom>
          <a:ln w="2159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10809122" y="2944368"/>
            <a:ext cx="0" cy="329184"/>
          </a:xfrm>
          <a:prstGeom prst="line">
            <a:avLst/>
          </a:prstGeom>
          <a:ln w="2159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10809122" y="3273552"/>
            <a:ext cx="228143" cy="0"/>
          </a:xfrm>
          <a:prstGeom prst="line">
            <a:avLst/>
          </a:prstGeom>
          <a:ln w="2159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11037265" y="2944368"/>
            <a:ext cx="0" cy="329184"/>
          </a:xfrm>
          <a:prstGeom prst="line">
            <a:avLst/>
          </a:prstGeom>
          <a:ln w="2159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11037265" y="2944368"/>
            <a:ext cx="228143" cy="0"/>
          </a:xfrm>
          <a:prstGeom prst="line">
            <a:avLst/>
          </a:prstGeom>
          <a:ln w="2159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TextBox 97"/>
          <p:cNvSpPr txBox="1"/>
          <p:nvPr/>
        </p:nvSpPr>
        <p:spPr>
          <a:xfrm>
            <a:off x="868680" y="3813048"/>
            <a:ext cx="914400" cy="2834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11111"/>
                </a:solidFill>
                <a:latin typeface="Noto Sans CJK KR"/>
              </a:defRPr>
            </a:pPr>
            <a:r>
              <a:t>count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2240279" y="3776472"/>
            <a:ext cx="342214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242424"/>
                </a:solidFill>
                <a:latin typeface="Noto Sans Mono CJK KR"/>
              </a:defRPr>
            </a:pPr>
            <a:r>
              <a:t>1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2696565" y="3776472"/>
            <a:ext cx="342214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242424"/>
                </a:solidFill>
                <a:latin typeface="Noto Sans Mono CJK KR"/>
              </a:defRPr>
            </a:pPr>
            <a:r>
              <a:t>2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3152851" y="3776472"/>
            <a:ext cx="342214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242424"/>
                </a:solidFill>
                <a:latin typeface="Noto Sans Mono CJK KR"/>
              </a:defRPr>
            </a:pPr>
            <a:r>
              <a:t>3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3609136" y="3776472"/>
            <a:ext cx="342214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242424"/>
                </a:solidFill>
                <a:latin typeface="Noto Sans Mono CJK KR"/>
              </a:defRPr>
            </a:pPr>
            <a:r>
              <a:t>4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4065422" y="3776472"/>
            <a:ext cx="342214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242424"/>
                </a:solidFill>
                <a:latin typeface="Noto Sans Mono CJK KR"/>
              </a:defRPr>
            </a:pPr>
            <a:r>
              <a:t>5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4521708" y="3776472"/>
            <a:ext cx="342214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242424"/>
                </a:solidFill>
                <a:latin typeface="Noto Sans Mono CJK KR"/>
              </a:defRPr>
            </a:pPr>
            <a:r>
              <a:t>6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4977993" y="3776472"/>
            <a:ext cx="342214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242424"/>
                </a:solidFill>
                <a:latin typeface="Noto Sans Mono CJK KR"/>
              </a:defRPr>
            </a:pPr>
            <a:r>
              <a:t>7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5434279" y="3776472"/>
            <a:ext cx="342214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242424"/>
                </a:solidFill>
                <a:latin typeface="Noto Sans Mono CJK KR"/>
              </a:defRPr>
            </a:pPr>
            <a:r>
              <a:t>8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5890564" y="3776472"/>
            <a:ext cx="342214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242424"/>
                </a:solidFill>
                <a:latin typeface="Noto Sans Mono CJK KR"/>
              </a:defRPr>
            </a:pPr>
            <a:r>
              <a:t>9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6346850" y="3776472"/>
            <a:ext cx="342214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242424"/>
                </a:solidFill>
                <a:latin typeface="Noto Sans Mono CJK KR"/>
              </a:defRPr>
            </a:pPr>
            <a:r>
              <a:t>0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6803136" y="3776472"/>
            <a:ext cx="342214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242424"/>
                </a:solidFill>
                <a:latin typeface="Noto Sans Mono CJK KR"/>
              </a:defRPr>
            </a:pPr>
            <a:r>
              <a:t>1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7259421" y="3776472"/>
            <a:ext cx="342214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242424"/>
                </a:solidFill>
                <a:latin typeface="Noto Sans Mono CJK KR"/>
              </a:defRPr>
            </a:pPr>
            <a:r>
              <a:t>2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7715707" y="3776472"/>
            <a:ext cx="342214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242424"/>
                </a:solidFill>
                <a:latin typeface="Noto Sans Mono CJK KR"/>
              </a:defRPr>
            </a:pPr>
            <a:r>
              <a:t>3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8171992" y="3776472"/>
            <a:ext cx="342214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242424"/>
                </a:solidFill>
                <a:latin typeface="Noto Sans Mono CJK KR"/>
              </a:defRPr>
            </a:pPr>
            <a:r>
              <a:t>4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8628278" y="3776472"/>
            <a:ext cx="342214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242424"/>
                </a:solidFill>
                <a:latin typeface="Noto Sans Mono CJK KR"/>
              </a:defRPr>
            </a:pPr>
            <a:r>
              <a:t>5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9084563" y="3776472"/>
            <a:ext cx="342214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242424"/>
                </a:solidFill>
                <a:latin typeface="Noto Sans Mono CJK KR"/>
              </a:defRPr>
            </a:pPr>
            <a:r>
              <a:t>6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9540849" y="3776472"/>
            <a:ext cx="342214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242424"/>
                </a:solidFill>
                <a:latin typeface="Noto Sans Mono CJK KR"/>
              </a:defRPr>
            </a:pPr>
            <a:r>
              <a:t>7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997135" y="3776472"/>
            <a:ext cx="342214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242424"/>
                </a:solidFill>
                <a:latin typeface="Noto Sans Mono CJK KR"/>
              </a:defRPr>
            </a:pPr>
            <a:r>
              <a:t>8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453420" y="3776472"/>
            <a:ext cx="342214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242424"/>
                </a:solidFill>
                <a:latin typeface="Noto Sans Mono CJK KR"/>
              </a:defRPr>
            </a:pPr>
            <a:r>
              <a:t>9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10909706" y="3776472"/>
            <a:ext cx="342214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242424"/>
                </a:solidFill>
                <a:latin typeface="Noto Sans Mono CJK KR"/>
              </a:defRPr>
            </a:pPr>
            <a:r>
              <a:t>0</a:t>
            </a:r>
          </a:p>
        </p:txBody>
      </p:sp>
      <p:cxnSp>
        <p:nvCxnSpPr>
          <p:cNvPr id="119" name="Connector 118"/>
          <p:cNvCxnSpPr/>
          <p:nvPr/>
        </p:nvCxnSpPr>
        <p:spPr>
          <a:xfrm>
            <a:off x="2139696" y="4160520"/>
            <a:ext cx="9125712" cy="0"/>
          </a:xfrm>
          <a:prstGeom prst="line">
            <a:avLst/>
          </a:prstGeom>
          <a:ln w="8890">
            <a:solidFill>
              <a:srgbClr val="D1D1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TextBox 119"/>
          <p:cNvSpPr txBox="1"/>
          <p:nvPr/>
        </p:nvSpPr>
        <p:spPr>
          <a:xfrm>
            <a:off x="868680" y="4709160"/>
            <a:ext cx="914400" cy="2834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11111"/>
                </a:solidFill>
                <a:latin typeface="Noto Sans CJK KR"/>
              </a:defRPr>
            </a:pPr>
            <a:r>
              <a:t>tick</a:t>
            </a:r>
          </a:p>
        </p:txBody>
      </p:sp>
      <p:cxnSp>
        <p:nvCxnSpPr>
          <p:cNvPr id="121" name="Connector 120"/>
          <p:cNvCxnSpPr/>
          <p:nvPr/>
        </p:nvCxnSpPr>
        <p:spPr>
          <a:xfrm>
            <a:off x="2139696" y="4956048"/>
            <a:ext cx="456285" cy="0"/>
          </a:xfrm>
          <a:prstGeom prst="line">
            <a:avLst/>
          </a:prstGeom>
          <a:ln w="2667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>
            <a:off x="2595981" y="4956048"/>
            <a:ext cx="456286" cy="0"/>
          </a:xfrm>
          <a:prstGeom prst="line">
            <a:avLst/>
          </a:prstGeom>
          <a:ln w="2667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3052267" y="4956048"/>
            <a:ext cx="456285" cy="0"/>
          </a:xfrm>
          <a:prstGeom prst="line">
            <a:avLst/>
          </a:prstGeom>
          <a:ln w="2667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>
            <a:off x="3508552" y="4956048"/>
            <a:ext cx="456286" cy="0"/>
          </a:xfrm>
          <a:prstGeom prst="line">
            <a:avLst/>
          </a:prstGeom>
          <a:ln w="2667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>
            <a:off x="3964838" y="4956048"/>
            <a:ext cx="456286" cy="0"/>
          </a:xfrm>
          <a:prstGeom prst="line">
            <a:avLst/>
          </a:prstGeom>
          <a:ln w="2667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>
            <a:off x="4421124" y="4956048"/>
            <a:ext cx="456285" cy="0"/>
          </a:xfrm>
          <a:prstGeom prst="line">
            <a:avLst/>
          </a:prstGeom>
          <a:ln w="2667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>
            <a:off x="4877409" y="4956048"/>
            <a:ext cx="456286" cy="0"/>
          </a:xfrm>
          <a:prstGeom prst="line">
            <a:avLst/>
          </a:prstGeom>
          <a:ln w="2667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>
            <a:off x="5333695" y="4956048"/>
            <a:ext cx="456285" cy="0"/>
          </a:xfrm>
          <a:prstGeom prst="line">
            <a:avLst/>
          </a:prstGeom>
          <a:ln w="2667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>
            <a:off x="5789980" y="4956048"/>
            <a:ext cx="456286" cy="0"/>
          </a:xfrm>
          <a:prstGeom prst="line">
            <a:avLst/>
          </a:prstGeom>
          <a:ln w="2667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 flipV="1">
            <a:off x="6246266" y="4636008"/>
            <a:ext cx="0" cy="320040"/>
          </a:xfrm>
          <a:prstGeom prst="line">
            <a:avLst/>
          </a:prstGeom>
          <a:ln w="2667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>
            <a:off x="6246266" y="4636008"/>
            <a:ext cx="456286" cy="0"/>
          </a:xfrm>
          <a:prstGeom prst="line">
            <a:avLst/>
          </a:prstGeom>
          <a:ln w="2667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>
            <a:off x="6702552" y="4636008"/>
            <a:ext cx="0" cy="320040"/>
          </a:xfrm>
          <a:prstGeom prst="line">
            <a:avLst/>
          </a:prstGeom>
          <a:ln w="2667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>
            <a:off x="6702552" y="4956048"/>
            <a:ext cx="456285" cy="0"/>
          </a:xfrm>
          <a:prstGeom prst="line">
            <a:avLst/>
          </a:prstGeom>
          <a:ln w="2667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>
            <a:off x="7158837" y="4956048"/>
            <a:ext cx="456286" cy="0"/>
          </a:xfrm>
          <a:prstGeom prst="line">
            <a:avLst/>
          </a:prstGeom>
          <a:ln w="2667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>
            <a:off x="7615123" y="4956048"/>
            <a:ext cx="456285" cy="0"/>
          </a:xfrm>
          <a:prstGeom prst="line">
            <a:avLst/>
          </a:prstGeom>
          <a:ln w="2667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>
            <a:off x="8071408" y="4956048"/>
            <a:ext cx="456286" cy="0"/>
          </a:xfrm>
          <a:prstGeom prst="line">
            <a:avLst/>
          </a:prstGeom>
          <a:ln w="2667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>
            <a:off x="8527694" y="4956048"/>
            <a:ext cx="456286" cy="0"/>
          </a:xfrm>
          <a:prstGeom prst="line">
            <a:avLst/>
          </a:prstGeom>
          <a:ln w="2667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>
            <a:off x="8983980" y="4956048"/>
            <a:ext cx="456285" cy="0"/>
          </a:xfrm>
          <a:prstGeom prst="line">
            <a:avLst/>
          </a:prstGeom>
          <a:ln w="2667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>
            <a:off x="9440265" y="4956048"/>
            <a:ext cx="456286" cy="0"/>
          </a:xfrm>
          <a:prstGeom prst="line">
            <a:avLst/>
          </a:prstGeom>
          <a:ln w="2667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>
            <a:off x="9896551" y="4956048"/>
            <a:ext cx="456285" cy="0"/>
          </a:xfrm>
          <a:prstGeom prst="line">
            <a:avLst/>
          </a:prstGeom>
          <a:ln w="2667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>
            <a:off x="10352836" y="4956048"/>
            <a:ext cx="456286" cy="0"/>
          </a:xfrm>
          <a:prstGeom prst="line">
            <a:avLst/>
          </a:prstGeom>
          <a:ln w="2667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 flipV="1">
            <a:off x="10809122" y="4636008"/>
            <a:ext cx="0" cy="320040"/>
          </a:xfrm>
          <a:prstGeom prst="line">
            <a:avLst/>
          </a:prstGeom>
          <a:ln w="2667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>
            <a:off x="10809122" y="4636008"/>
            <a:ext cx="456286" cy="0"/>
          </a:xfrm>
          <a:prstGeom prst="line">
            <a:avLst/>
          </a:prstGeom>
          <a:ln w="2667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4" name="TextBox 143"/>
          <p:cNvSpPr txBox="1"/>
          <p:nvPr/>
        </p:nvSpPr>
        <p:spPr>
          <a:xfrm>
            <a:off x="6766560" y="5138928"/>
            <a:ext cx="25146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11111"/>
                </a:solidFill>
                <a:latin typeface="Noto Sans CJK KR"/>
              </a:defRPr>
            </a:pPr>
            <a:r>
              <a:t>1주기 HIGH(10ns)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41832" y="5687568"/>
            <a:ext cx="1042416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11111"/>
                </a:solidFill>
                <a:latin typeface="Noto Sans CJK KR"/>
              </a:defRPr>
            </a:pPr>
            <a:r>
              <a:t>Tick 반복 100ns  /  HIGH 폭 10ns  /  원클럭 동기식 enable pulse</a:t>
            </a:r>
          </a:p>
        </p:txBody>
      </p:sp>
      <p:cxnSp>
        <p:nvCxnSpPr>
          <p:cNvPr id="146" name="Connector 145"/>
          <p:cNvCxnSpPr/>
          <p:nvPr/>
        </p:nvCxnSpPr>
        <p:spPr>
          <a:xfrm>
            <a:off x="640080" y="6345936"/>
            <a:ext cx="10927080" cy="0"/>
          </a:xfrm>
          <a:prstGeom prst="line">
            <a:avLst/>
          </a:prstGeom>
          <a:ln w="8890">
            <a:solidFill>
              <a:srgbClr val="D1D1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6D6D6D"/>
                </a:solidFill>
                <a:latin typeface="Noto Sans CJK KR"/>
              </a:defRPr>
            </a:pPr>
            <a:r>
              <a:t>VERIFICATION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94360" y="704088"/>
            <a:ext cx="11000232" cy="0"/>
          </a:xfrm>
          <a:prstGeom prst="line">
            <a:avLst/>
          </a:prstGeom>
          <a:ln w="11430">
            <a:solidFill>
              <a:srgbClr val="D1D1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12648" y="896112"/>
            <a:ext cx="10954512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11111"/>
                </a:solidFill>
                <a:latin typeface="Noto Sans CJK KR"/>
              </a:defRPr>
            </a:pPr>
            <a:r>
              <a:t>02  검증 | Vivado 실제 파형 분석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" y="4946904"/>
            <a:ext cx="1152144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11111"/>
                </a:solidFill>
                <a:latin typeface="Noto Sans CJK KR"/>
              </a:defRPr>
            </a:pPr>
            <a:r>
              <a:t>Mode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2069" y="5405804"/>
            <a:ext cx="2398134" cy="6001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D6D6D"/>
                </a:solidFill>
                <a:latin typeface="Noto Sans CJK KR"/>
              </a:defRPr>
            </a:pPr>
            <a:r>
              <a:rPr lang="ko-KR" altLang="en-US" sz="1300" dirty="0">
                <a:latin typeface="+mn-ea"/>
              </a:rPr>
              <a:t>버튼 입력에 따른 </a:t>
            </a:r>
            <a:endParaRPr lang="en-US" altLang="ko-KR" sz="1300" dirty="0" smtClean="0">
              <a:latin typeface="+mn-ea"/>
            </a:endParaRPr>
          </a:p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D6D6D"/>
                </a:solidFill>
                <a:latin typeface="Noto Sans CJK KR"/>
              </a:defRPr>
            </a:pPr>
            <a:r>
              <a:rPr lang="en-US" altLang="ko-KR" sz="1300" dirty="0" smtClean="0">
                <a:latin typeface="+mn-ea"/>
              </a:rPr>
              <a:t>CLOCK </a:t>
            </a:r>
            <a:r>
              <a:rPr lang="en-US" altLang="ko-KR" sz="1300" dirty="0">
                <a:latin typeface="+mn-ea"/>
              </a:rPr>
              <a:t>/ STOPWATCH / </a:t>
            </a:r>
            <a:r>
              <a:rPr lang="en-US" altLang="ko-KR" sz="1300" dirty="0" smtClean="0">
                <a:latin typeface="+mn-ea"/>
              </a:rPr>
              <a:t>PAUSE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D6D6D"/>
                </a:solidFill>
                <a:latin typeface="Noto Sans CJK KR"/>
              </a:defRPr>
            </a:pPr>
            <a:r>
              <a:rPr lang="ko-KR" altLang="en-US" sz="1300" dirty="0" smtClean="0">
                <a:latin typeface="+mn-ea"/>
              </a:rPr>
              <a:t>상태 전이 </a:t>
            </a:r>
            <a:r>
              <a:rPr lang="ko-KR" altLang="en-US" sz="1300" dirty="0">
                <a:latin typeface="+mn-ea"/>
              </a:rPr>
              <a:t>확인</a:t>
            </a:r>
            <a:endParaRPr dirty="0">
              <a:latin typeface="+mn-ea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791455" y="4971547"/>
            <a:ext cx="1152144" cy="26161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11111"/>
                </a:solidFill>
                <a:latin typeface="Noto Sans CJK KR"/>
              </a:defRPr>
            </a:pPr>
            <a:r>
              <a:rPr lang="en-US" dirty="0" smtClean="0"/>
              <a:t>Run</a:t>
            </a:r>
            <a:endParaRPr dirty="0"/>
          </a:p>
        </p:txBody>
      </p:sp>
      <p:sp>
        <p:nvSpPr>
          <p:cNvPr id="15" name="TextBox 14"/>
          <p:cNvSpPr txBox="1"/>
          <p:nvPr/>
        </p:nvSpPr>
        <p:spPr>
          <a:xfrm>
            <a:off x="4791455" y="5329049"/>
            <a:ext cx="2054513" cy="40011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D6D6D"/>
                </a:solidFill>
                <a:latin typeface="Noto Sans CJK KR"/>
              </a:defRPr>
            </a:pPr>
            <a:r>
              <a:rPr lang="en-US" altLang="ko-KR" sz="1300" dirty="0">
                <a:latin typeface="+mn-ea"/>
              </a:rPr>
              <a:t>STOPWATCH</a:t>
            </a:r>
            <a:r>
              <a:rPr lang="ko-KR" altLang="en-US" sz="1300" dirty="0">
                <a:latin typeface="+mn-ea"/>
              </a:rPr>
              <a:t>에서만 </a:t>
            </a:r>
            <a:endParaRPr lang="en-US" altLang="ko-KR" sz="1300" dirty="0" smtClean="0">
              <a:latin typeface="+mn-ea"/>
            </a:endParaRPr>
          </a:p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D6D6D"/>
                </a:solidFill>
                <a:latin typeface="Noto Sans CJK KR"/>
              </a:defRPr>
            </a:pPr>
            <a:r>
              <a:rPr lang="ko-KR" altLang="en-US" sz="1300" dirty="0" smtClean="0">
                <a:latin typeface="+mn-ea"/>
              </a:rPr>
              <a:t>카운터 </a:t>
            </a:r>
            <a:r>
              <a:rPr lang="ko-KR" altLang="en-US" sz="1300" dirty="0">
                <a:latin typeface="+mn-ea"/>
              </a:rPr>
              <a:t>실행 신호 활성화</a:t>
            </a:r>
            <a:endParaRPr dirty="0">
              <a:latin typeface="+mn-ea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503919" y="4971547"/>
            <a:ext cx="1152144" cy="26161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11111"/>
                </a:solidFill>
                <a:latin typeface="Noto Sans CJK KR"/>
              </a:defRPr>
            </a:pPr>
            <a:r>
              <a:rPr lang="en-US" dirty="0" smtClean="0"/>
              <a:t>Clear</a:t>
            </a:r>
            <a:endParaRPr dirty="0"/>
          </a:p>
        </p:txBody>
      </p:sp>
      <p:sp>
        <p:nvSpPr>
          <p:cNvPr id="17" name="TextBox 16"/>
          <p:cNvSpPr txBox="1"/>
          <p:nvPr/>
        </p:nvSpPr>
        <p:spPr>
          <a:xfrm>
            <a:off x="8503919" y="5305667"/>
            <a:ext cx="2283595" cy="40011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D6D6D"/>
                </a:solidFill>
                <a:latin typeface="Noto Sans CJK KR"/>
              </a:defRPr>
            </a:pPr>
            <a:r>
              <a:rPr lang="en-US" altLang="ko-KR" sz="1300" dirty="0">
                <a:latin typeface="+mn-ea"/>
              </a:rPr>
              <a:t>Center </a:t>
            </a:r>
            <a:r>
              <a:rPr lang="ko-KR" altLang="en-US" sz="1300" dirty="0">
                <a:latin typeface="+mn-ea"/>
              </a:rPr>
              <a:t>입력 시 상태 유지 및 </a:t>
            </a:r>
            <a:endParaRPr lang="en-US" altLang="ko-KR" sz="1300" dirty="0" smtClean="0">
              <a:latin typeface="+mn-ea"/>
            </a:endParaRPr>
          </a:p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D6D6D"/>
                </a:solidFill>
                <a:latin typeface="Noto Sans CJK KR"/>
              </a:defRPr>
            </a:pPr>
            <a:r>
              <a:rPr lang="en-US" altLang="ko-KR" sz="1300" dirty="0" smtClean="0">
                <a:latin typeface="+mn-ea"/>
              </a:rPr>
              <a:t>1</a:t>
            </a:r>
            <a:r>
              <a:rPr lang="ko-KR" altLang="en-US" sz="1300" dirty="0">
                <a:latin typeface="+mn-ea"/>
              </a:rPr>
              <a:t>클럭 </a:t>
            </a:r>
            <a:r>
              <a:rPr lang="en-US" altLang="ko-KR" sz="1300" dirty="0">
                <a:latin typeface="+mn-ea"/>
              </a:rPr>
              <a:t>Clear </a:t>
            </a:r>
            <a:r>
              <a:rPr lang="ko-KR" altLang="en-US" sz="1300" dirty="0">
                <a:latin typeface="+mn-ea"/>
              </a:rPr>
              <a:t>펄스 생성</a:t>
            </a:r>
            <a:endParaRPr dirty="0">
              <a:latin typeface="+mn-ea"/>
            </a:endParaRPr>
          </a:p>
        </p:txBody>
      </p:sp>
      <p:cxnSp>
        <p:nvCxnSpPr>
          <p:cNvPr id="18" name="Connector 17"/>
          <p:cNvCxnSpPr/>
          <p:nvPr/>
        </p:nvCxnSpPr>
        <p:spPr>
          <a:xfrm>
            <a:off x="640080" y="6345936"/>
            <a:ext cx="10927080" cy="0"/>
          </a:xfrm>
          <a:prstGeom prst="line">
            <a:avLst/>
          </a:prstGeom>
          <a:ln w="8890">
            <a:solidFill>
              <a:srgbClr val="D1D1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1078992" y="1520953"/>
            <a:ext cx="16142464" cy="4864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1025" name="_x347657880" descr="EMB00002c080de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8838" y="1624258"/>
            <a:ext cx="8309522" cy="30360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6D6D6D"/>
                </a:solidFill>
                <a:latin typeface="Noto Sans CJK KR"/>
              </a:defRPr>
            </a:pPr>
            <a:r>
              <a:t>VERIFICATION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94360" y="704088"/>
            <a:ext cx="11000232" cy="0"/>
          </a:xfrm>
          <a:prstGeom prst="line">
            <a:avLst/>
          </a:prstGeom>
          <a:ln w="11430">
            <a:solidFill>
              <a:srgbClr val="D1D1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12648" y="896112"/>
            <a:ext cx="10954512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11111"/>
                </a:solidFill>
                <a:latin typeface="Noto Sans CJK KR"/>
              </a:defRPr>
            </a:pPr>
            <a:r>
              <a:t>02  검증 | 보드 동작 시연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965960"/>
            <a:ext cx="6620256" cy="3666744"/>
          </a:xfrm>
          <a:prstGeom prst="rect">
            <a:avLst/>
          </a:prstGeom>
          <a:noFill/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01000" y="2057400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6D6D6D"/>
                </a:solidFill>
                <a:latin typeface="Noto Sans CJK KR"/>
              </a:defRPr>
            </a:pPr>
            <a:r>
              <a:rPr dirty="0" err="1"/>
              <a:t>시연</a:t>
            </a:r>
            <a:r>
              <a:rPr dirty="0"/>
              <a:t> </a:t>
            </a:r>
            <a:r>
              <a:rPr dirty="0" err="1"/>
              <a:t>체크리스트</a:t>
            </a:r>
            <a:endParaRPr dirty="0"/>
          </a:p>
        </p:txBody>
      </p:sp>
      <p:sp>
        <p:nvSpPr>
          <p:cNvPr id="12" name="TextBox 11"/>
          <p:cNvSpPr txBox="1"/>
          <p:nvPr/>
        </p:nvSpPr>
        <p:spPr>
          <a:xfrm>
            <a:off x="8028431" y="2523744"/>
            <a:ext cx="38404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6D6D6D"/>
                </a:solidFill>
                <a:latin typeface="Noto Sans CJK KR"/>
              </a:defRPr>
            </a:pPr>
            <a: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94776" y="2514600"/>
            <a:ext cx="2907792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242424"/>
                </a:solidFill>
                <a:latin typeface="Noto Sans CJK KR"/>
              </a:defRPr>
            </a:pPr>
            <a:r>
              <a:t>CLOCK MM:SS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28431" y="3044951"/>
            <a:ext cx="38404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6D6D6D"/>
                </a:solidFill>
                <a:latin typeface="Noto Sans CJK KR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94776" y="3035808"/>
            <a:ext cx="2907792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242424"/>
                </a:solidFill>
                <a:latin typeface="Noto Sans CJK KR"/>
              </a:defRPr>
            </a:pPr>
            <a:r>
              <a:rPr dirty="0"/>
              <a:t>Left → STOPWATCH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28431" y="3566159"/>
            <a:ext cx="38404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6D6D6D"/>
                </a:solidFill>
                <a:latin typeface="Noto Sans CJK KR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94776" y="3557015"/>
            <a:ext cx="2907792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242424"/>
                </a:solidFill>
                <a:latin typeface="Noto Sans CJK KR"/>
              </a:defRPr>
            </a:pPr>
            <a:r>
              <a:t>Right → PAUSE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28431" y="4087368"/>
            <a:ext cx="38404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6D6D6D"/>
                </a:solidFill>
                <a:latin typeface="Noto Sans CJK KR"/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94776" y="4078224"/>
            <a:ext cx="2907792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242424"/>
                </a:solidFill>
                <a:latin typeface="Noto Sans CJK KR"/>
              </a:defRPr>
            </a:pPr>
            <a:r>
              <a:t>5초 → Circle Animation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28431" y="4608575"/>
            <a:ext cx="38404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6D6D6D"/>
                </a:solidFill>
                <a:latin typeface="Noto Sans CJK KR"/>
              </a:defRPr>
            </a:pPr>
            <a: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94776" y="4599431"/>
            <a:ext cx="2907792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242424"/>
                </a:solidFill>
                <a:latin typeface="Noto Sans CJK KR"/>
              </a:defRPr>
            </a:pPr>
            <a:r>
              <a:t>Right → Resume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28431" y="5129783"/>
            <a:ext cx="38404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6D6D6D"/>
                </a:solidFill>
                <a:latin typeface="Noto Sans CJK KR"/>
              </a:defRPr>
            </a:pPr>
            <a:r>
              <a:t>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94776" y="5120640"/>
            <a:ext cx="2907792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242424"/>
                </a:solidFill>
                <a:latin typeface="Noto Sans CJK KR"/>
              </a:defRPr>
            </a:pPr>
            <a:r>
              <a:t>Center → Clear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40080" y="6345936"/>
            <a:ext cx="10927080" cy="0"/>
          </a:xfrm>
          <a:prstGeom prst="line">
            <a:avLst/>
          </a:prstGeom>
          <a:ln w="8890">
            <a:solidFill>
              <a:srgbClr val="D1D1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basys3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2847" y="1957642"/>
            <a:ext cx="6933521" cy="392875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6D6D6D"/>
                </a:solidFill>
                <a:latin typeface="Noto Sans CJK KR"/>
              </a:defRPr>
            </a:pPr>
            <a:r>
              <a:t>TROUBLE SHOOTING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94360" y="704088"/>
            <a:ext cx="11000232" cy="0"/>
          </a:xfrm>
          <a:prstGeom prst="line">
            <a:avLst/>
          </a:prstGeom>
          <a:ln w="11430">
            <a:solidFill>
              <a:srgbClr val="D1D1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12648" y="896112"/>
            <a:ext cx="10954512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11111"/>
                </a:solidFill>
                <a:latin typeface="Noto Sans CJK KR"/>
              </a:defRPr>
            </a:pPr>
            <a:r>
              <a:t>03  Trouble Shooting | 애니메이션 미표시</a:t>
            </a:r>
          </a:p>
        </p:txBody>
      </p:sp>
      <p:sp>
        <p:nvSpPr>
          <p:cNvPr id="7" name="Oval 6"/>
          <p:cNvSpPr/>
          <p:nvPr/>
        </p:nvSpPr>
        <p:spPr>
          <a:xfrm>
            <a:off x="841248" y="1956816"/>
            <a:ext cx="475488" cy="475488"/>
          </a:xfrm>
          <a:prstGeom prst="ellipse">
            <a:avLst/>
          </a:prstGeom>
          <a:solidFill>
            <a:srgbClr val="FFFFFF"/>
          </a:solidFill>
          <a:ln w="1143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084832"/>
            <a:ext cx="329184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6D6D6D"/>
                </a:solidFill>
                <a:latin typeface="Noto Sans CJK KR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27632" y="2002536"/>
            <a:ext cx="164592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11111"/>
                </a:solidFill>
                <a:latin typeface="Noto Sans CJK KR"/>
              </a:defRPr>
            </a:pPr>
            <a:r>
              <a:t>증상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12463" y="1956816"/>
            <a:ext cx="7379208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42424"/>
                </a:solidFill>
                <a:latin typeface="Noto Sans CJK KR"/>
              </a:defRPr>
            </a:pPr>
            <a:r>
              <a:t>PAUSE·Resume는 동작하지만 5초 후 FND 숫자가 유지됨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59536" y="2752344"/>
            <a:ext cx="10396728" cy="0"/>
          </a:xfrm>
          <a:prstGeom prst="line">
            <a:avLst/>
          </a:prstGeom>
          <a:ln w="8890">
            <a:solidFill>
              <a:srgbClr val="D1D1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841248" y="2971800"/>
            <a:ext cx="475488" cy="475488"/>
          </a:xfrm>
          <a:prstGeom prst="ellipse">
            <a:avLst/>
          </a:prstGeom>
          <a:solidFill>
            <a:srgbClr val="FFFFFF"/>
          </a:solidFill>
          <a:ln w="1143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3099816"/>
            <a:ext cx="329184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6D6D6D"/>
                </a:solidFill>
                <a:latin typeface="Noto Sans CJK KR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7632" y="3017520"/>
            <a:ext cx="164592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11111"/>
                </a:solidFill>
                <a:latin typeface="Noto Sans CJK KR"/>
              </a:defRPr>
            </a:pPr>
            <a:r>
              <a:t>원인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12463" y="2971800"/>
            <a:ext cx="7379208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42424"/>
                </a:solidFill>
                <a:latin typeface="Noto Sans CJK KR"/>
              </a:defRPr>
            </a:pPr>
            <a:r>
              <a:t>anim_active / anim_step 출력이 FND 최종 표시 로직에 반영되지 않음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59536" y="3767328"/>
            <a:ext cx="10396728" cy="0"/>
          </a:xfrm>
          <a:prstGeom prst="line">
            <a:avLst/>
          </a:prstGeom>
          <a:ln w="8890">
            <a:solidFill>
              <a:srgbClr val="D1D1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841248" y="3986784"/>
            <a:ext cx="475488" cy="475488"/>
          </a:xfrm>
          <a:prstGeom prst="ellipse">
            <a:avLst/>
          </a:prstGeom>
          <a:solidFill>
            <a:srgbClr val="FFFFFF"/>
          </a:solidFill>
          <a:ln w="1143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" y="4114800"/>
            <a:ext cx="329184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6D6D6D"/>
                </a:solidFill>
                <a:latin typeface="Noto Sans CJK KR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27632" y="4032504"/>
            <a:ext cx="164592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11111"/>
                </a:solidFill>
                <a:latin typeface="Noto Sans CJK KR"/>
              </a:defRPr>
            </a:pPr>
            <a:r>
              <a:t>수정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12463" y="3986784"/>
            <a:ext cx="7379208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42424"/>
                </a:solidFill>
                <a:latin typeface="Noto Sans CJK KR"/>
              </a:defRPr>
            </a:pPr>
            <a:r>
              <a:t>anim_active 조건에서 BCD 표시 대신 회전 Segment 패턴 출력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59536" y="4782312"/>
            <a:ext cx="10396728" cy="0"/>
          </a:xfrm>
          <a:prstGeom prst="line">
            <a:avLst/>
          </a:prstGeom>
          <a:ln w="8890">
            <a:solidFill>
              <a:srgbClr val="D1D1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841248" y="5001768"/>
            <a:ext cx="475488" cy="475488"/>
          </a:xfrm>
          <a:prstGeom prst="ellipse">
            <a:avLst/>
          </a:prstGeom>
          <a:solidFill>
            <a:srgbClr val="FFFFFF"/>
          </a:solidFill>
          <a:ln w="1143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4400" y="5129784"/>
            <a:ext cx="329184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6D6D6D"/>
                </a:solidFill>
                <a:latin typeface="Noto Sans CJK KR"/>
              </a:defRPr>
            </a:pPr>
            <a: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27632" y="5047488"/>
            <a:ext cx="164592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11111"/>
                </a:solidFill>
                <a:latin typeface="Noto Sans CJK KR"/>
              </a:defRPr>
            </a:pPr>
            <a:r>
              <a:t>결과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12463" y="5001768"/>
            <a:ext cx="7379208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42424"/>
                </a:solidFill>
                <a:latin typeface="Noto Sans CJK KR"/>
              </a:defRPr>
            </a:pPr>
            <a:r>
              <a:t>수정된 Bitstream으로 보드에서 회전 동작 확인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59536" y="5797296"/>
            <a:ext cx="10396728" cy="0"/>
          </a:xfrm>
          <a:prstGeom prst="line">
            <a:avLst/>
          </a:prstGeom>
          <a:ln w="8890">
            <a:solidFill>
              <a:srgbClr val="D1D1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40080" y="6345936"/>
            <a:ext cx="10927080" cy="0"/>
          </a:xfrm>
          <a:prstGeom prst="line">
            <a:avLst/>
          </a:prstGeom>
          <a:ln w="8890">
            <a:solidFill>
              <a:srgbClr val="D1D1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6D6D6D"/>
                </a:solidFill>
                <a:latin typeface="Noto Sans CJK KR"/>
              </a:defRPr>
            </a:pPr>
            <a:r>
              <a:t>BACKGROUND TECHNOLOGY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94360" y="704088"/>
            <a:ext cx="11000232" cy="0"/>
          </a:xfrm>
          <a:prstGeom prst="line">
            <a:avLst/>
          </a:prstGeom>
          <a:ln w="11430">
            <a:solidFill>
              <a:srgbClr val="D1D1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12648" y="896112"/>
            <a:ext cx="10954512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11111"/>
                </a:solidFill>
                <a:latin typeface="Noto Sans CJK KR"/>
              </a:defRPr>
            </a:pPr>
            <a:r>
              <a:t>04  Background | Setup · Hold 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72184"/>
            <a:ext cx="10936224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D6D6D"/>
                </a:solidFill>
                <a:latin typeface="Noto Sans CJK KR"/>
              </a:defRPr>
            </a:pPr>
            <a:r>
              <a:t>개념 · 원인 · 문제점 · 해결 방법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" y="1929384"/>
            <a:ext cx="9848088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6D6D6D"/>
                </a:solidFill>
                <a:latin typeface="Noto Sans CJK KR"/>
              </a:defRPr>
            </a:pPr>
            <a:r>
              <a:t>D는 샘플링 엣지 전후 일정 기간 안정되어야 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743200"/>
            <a:ext cx="96012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11111"/>
                </a:solidFill>
                <a:latin typeface="Noto Sans CJK KR"/>
              </a:defRPr>
            </a:pPr>
            <a:r>
              <a:t>CLK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920240" y="3145536"/>
            <a:ext cx="1764792" cy="0"/>
          </a:xfrm>
          <a:prstGeom prst="line">
            <a:avLst/>
          </a:prstGeom>
          <a:ln w="2159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3685032" y="2688336"/>
            <a:ext cx="0" cy="457200"/>
          </a:xfrm>
          <a:prstGeom prst="line">
            <a:avLst/>
          </a:prstGeom>
          <a:ln w="2159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685032" y="2688336"/>
            <a:ext cx="914400" cy="0"/>
          </a:xfrm>
          <a:prstGeom prst="line">
            <a:avLst/>
          </a:prstGeom>
          <a:ln w="2159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599432" y="2688336"/>
            <a:ext cx="0" cy="457200"/>
          </a:xfrm>
          <a:prstGeom prst="line">
            <a:avLst/>
          </a:prstGeom>
          <a:ln w="2159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599432" y="3145536"/>
            <a:ext cx="1874520" cy="0"/>
          </a:xfrm>
          <a:prstGeom prst="line">
            <a:avLst/>
          </a:prstGeom>
          <a:ln w="2159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6473952" y="2688336"/>
            <a:ext cx="0" cy="457200"/>
          </a:xfrm>
          <a:prstGeom prst="line">
            <a:avLst/>
          </a:prstGeom>
          <a:ln w="2159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473952" y="2688336"/>
            <a:ext cx="914400" cy="0"/>
          </a:xfrm>
          <a:prstGeom prst="line">
            <a:avLst/>
          </a:prstGeom>
          <a:ln w="2159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388352" y="2688336"/>
            <a:ext cx="0" cy="457200"/>
          </a:xfrm>
          <a:prstGeom prst="line">
            <a:avLst/>
          </a:prstGeom>
          <a:ln w="2159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388352" y="3145536"/>
            <a:ext cx="1847088" cy="0"/>
          </a:xfrm>
          <a:prstGeom prst="line">
            <a:avLst/>
          </a:prstGeom>
          <a:ln w="2159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9235440" y="2688336"/>
            <a:ext cx="0" cy="457200"/>
          </a:xfrm>
          <a:prstGeom prst="line">
            <a:avLst/>
          </a:prstGeom>
          <a:ln w="2159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9235440" y="2688336"/>
            <a:ext cx="914400" cy="0"/>
          </a:xfrm>
          <a:prstGeom prst="line">
            <a:avLst/>
          </a:prstGeom>
          <a:ln w="2159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149840" y="2688336"/>
            <a:ext cx="0" cy="457200"/>
          </a:xfrm>
          <a:prstGeom prst="line">
            <a:avLst/>
          </a:prstGeom>
          <a:ln w="2159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0149840" y="3145536"/>
            <a:ext cx="768096" cy="0"/>
          </a:xfrm>
          <a:prstGeom prst="line">
            <a:avLst/>
          </a:prstGeom>
          <a:ln w="2159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32104" y="3749039"/>
            <a:ext cx="950976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11111"/>
                </a:solidFill>
                <a:latin typeface="Noto Sans CJK KR"/>
              </a:defRPr>
            </a:pPr>
            <a:r>
              <a:t>D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920240" y="4224528"/>
            <a:ext cx="1874520" cy="0"/>
          </a:xfrm>
          <a:prstGeom prst="line">
            <a:avLst/>
          </a:prstGeom>
          <a:ln w="2286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3794760" y="3776472"/>
            <a:ext cx="0" cy="448056"/>
          </a:xfrm>
          <a:prstGeom prst="line">
            <a:avLst/>
          </a:prstGeom>
          <a:ln w="2286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3794760" y="3776472"/>
            <a:ext cx="4709160" cy="0"/>
          </a:xfrm>
          <a:prstGeom prst="line">
            <a:avLst/>
          </a:prstGeom>
          <a:ln w="2286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8503920" y="3776472"/>
            <a:ext cx="0" cy="448056"/>
          </a:xfrm>
          <a:prstGeom prst="line">
            <a:avLst/>
          </a:prstGeom>
          <a:ln w="2286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503920" y="4224528"/>
            <a:ext cx="2414016" cy="0"/>
          </a:xfrm>
          <a:prstGeom prst="line">
            <a:avLst/>
          </a:prstGeom>
          <a:ln w="2286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6473952" y="2377440"/>
            <a:ext cx="0" cy="2615184"/>
          </a:xfrm>
          <a:prstGeom prst="line">
            <a:avLst/>
          </a:prstGeom>
          <a:ln w="12700">
            <a:solidFill>
              <a:srgbClr val="6D6D6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5440680" y="4453128"/>
            <a:ext cx="1024128" cy="256032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492240" y="4453128"/>
            <a:ext cx="1024128" cy="256032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696712" y="4754880"/>
            <a:ext cx="713232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11111"/>
                </a:solidFill>
                <a:latin typeface="Noto Sans CJK KR"/>
              </a:defRPr>
            </a:pPr>
            <a:r>
              <a:t>tSU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48272" y="4754880"/>
            <a:ext cx="704088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11111"/>
                </a:solidFill>
                <a:latin typeface="Noto Sans CJK KR"/>
              </a:defRPr>
            </a:pPr>
            <a:r>
              <a:t>tH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99632" y="2029968"/>
            <a:ext cx="1271016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11111"/>
                </a:solidFill>
                <a:latin typeface="Noto Sans CJK KR"/>
              </a:defRPr>
            </a:pPr>
            <a:r>
              <a:t>Clock ↑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877824" y="5303520"/>
            <a:ext cx="3364992" cy="0"/>
          </a:xfrm>
          <a:prstGeom prst="line">
            <a:avLst/>
          </a:prstGeom>
          <a:ln w="9525">
            <a:solidFill>
              <a:srgbClr val="D1D1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896112" y="5422392"/>
            <a:ext cx="3328416" cy="2834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11111"/>
                </a:solidFill>
                <a:latin typeface="Noto Sans CJK KR"/>
              </a:defRPr>
            </a:pPr>
            <a:r>
              <a:t>개념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6112" y="5742432"/>
            <a:ext cx="3328416" cy="3017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D6D6D"/>
                </a:solidFill>
                <a:latin typeface="Noto Sans CJK KR"/>
              </a:defRPr>
            </a:pPr>
            <a:r>
              <a:t>Setup=엣지 이전 안정 / Hold=엣지 이후 유지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4672584" y="5303520"/>
            <a:ext cx="3364992" cy="0"/>
          </a:xfrm>
          <a:prstGeom prst="line">
            <a:avLst/>
          </a:prstGeom>
          <a:ln w="9525">
            <a:solidFill>
              <a:srgbClr val="D1D1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4690872" y="5422392"/>
            <a:ext cx="3328416" cy="2834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11111"/>
                </a:solidFill>
                <a:latin typeface="Noto Sans CJK KR"/>
              </a:defRPr>
            </a:pPr>
            <a:r>
              <a:t>원인·문제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90872" y="5742432"/>
            <a:ext cx="3328416" cy="3017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D6D6D"/>
                </a:solidFill>
                <a:latin typeface="Noto Sans CJK KR"/>
              </a:defRPr>
            </a:pPr>
            <a:r>
              <a:t>데이터 지연·스큐·비동기 전이 → 샘플링 위험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8467344" y="5303520"/>
            <a:ext cx="3364992" cy="0"/>
          </a:xfrm>
          <a:prstGeom prst="line">
            <a:avLst/>
          </a:prstGeom>
          <a:ln w="9525">
            <a:solidFill>
              <a:srgbClr val="D1D1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8485632" y="5422392"/>
            <a:ext cx="3328416" cy="2834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11111"/>
                </a:solidFill>
                <a:latin typeface="Noto Sans CJK KR"/>
              </a:defRPr>
            </a:pPr>
            <a:r>
              <a:t>해결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85632" y="5742432"/>
            <a:ext cx="3328416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D6D6D"/>
                </a:solidFill>
                <a:latin typeface="Noto Sans CJK KR"/>
              </a:defRPr>
            </a:pPr>
            <a:r>
              <a:rPr dirty="0"/>
              <a:t>STA </a:t>
            </a:r>
            <a:r>
              <a:rPr dirty="0" err="1"/>
              <a:t>제약</a:t>
            </a:r>
            <a:r>
              <a:rPr dirty="0"/>
              <a:t> </a:t>
            </a:r>
            <a:r>
              <a:rPr dirty="0" err="1"/>
              <a:t>검토</a:t>
            </a:r>
            <a:r>
              <a:rPr dirty="0"/>
              <a:t> · </a:t>
            </a:r>
            <a:r>
              <a:rPr dirty="0" err="1"/>
              <a:t>경로</a:t>
            </a:r>
            <a:r>
              <a:rPr dirty="0"/>
              <a:t> </a:t>
            </a:r>
            <a:r>
              <a:rPr dirty="0" err="1"/>
              <a:t>최적화</a:t>
            </a:r>
            <a:r>
              <a:rPr dirty="0"/>
              <a:t> · </a:t>
            </a:r>
            <a:endParaRPr lang="en-US" dirty="0" smtClean="0"/>
          </a:p>
          <a:p>
            <a:pPr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D6D6D"/>
                </a:solidFill>
                <a:latin typeface="Noto Sans CJK KR"/>
              </a:defRPr>
            </a:pPr>
            <a:r>
              <a:rPr dirty="0" err="1" smtClean="0"/>
              <a:t>필요한</a:t>
            </a:r>
            <a:r>
              <a:rPr dirty="0" smtClean="0"/>
              <a:t> </a:t>
            </a:r>
            <a:r>
              <a:rPr dirty="0" err="1"/>
              <a:t>경우</a:t>
            </a:r>
            <a:r>
              <a:rPr dirty="0"/>
              <a:t> </a:t>
            </a:r>
            <a:r>
              <a:rPr dirty="0" err="1"/>
              <a:t>동기화</a:t>
            </a:r>
            <a:endParaRPr dirty="0"/>
          </a:p>
        </p:txBody>
      </p:sp>
      <p:cxnSp>
        <p:nvCxnSpPr>
          <p:cNvPr id="43" name="Connector 42"/>
          <p:cNvCxnSpPr/>
          <p:nvPr/>
        </p:nvCxnSpPr>
        <p:spPr>
          <a:xfrm>
            <a:off x="640080" y="6345936"/>
            <a:ext cx="10927080" cy="0"/>
          </a:xfrm>
          <a:prstGeom prst="line">
            <a:avLst/>
          </a:prstGeom>
          <a:ln w="8890">
            <a:solidFill>
              <a:srgbClr val="D1D1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6D6D6D"/>
                </a:solidFill>
                <a:latin typeface="Noto Sans CJK KR"/>
              </a:defRPr>
            </a:pPr>
            <a:r>
              <a:t>BACKGROUND TECHNOLOGY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94360" y="704088"/>
            <a:ext cx="11000232" cy="0"/>
          </a:xfrm>
          <a:prstGeom prst="line">
            <a:avLst/>
          </a:prstGeom>
          <a:ln w="11430">
            <a:solidFill>
              <a:srgbClr val="D1D1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23937" y="896112"/>
            <a:ext cx="10954512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11111"/>
                </a:solidFill>
                <a:latin typeface="Noto Sans CJK KR"/>
              </a:defRPr>
            </a:pPr>
            <a:r>
              <a:t>04  Background | Metastability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72184"/>
            <a:ext cx="10936224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D6D6D"/>
                </a:solidFill>
                <a:latin typeface="Noto Sans CJK KR"/>
              </a:defRPr>
            </a:pPr>
            <a:r>
              <a:t>비동기 버튼의 전이 시점이 CLK과 겹치면 첫 번째 FF가 늦게 안정될 수 있음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514600"/>
            <a:ext cx="1938528" cy="786384"/>
          </a:xfrm>
          <a:prstGeom prst="rect">
            <a:avLst/>
          </a:prstGeom>
          <a:solidFill>
            <a:srgbClr val="FFFFFF"/>
          </a:solidFill>
          <a:ln w="10795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642616"/>
            <a:ext cx="1847088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11111"/>
                </a:solidFill>
                <a:latin typeface="Noto Sans CJK KR"/>
              </a:defRPr>
            </a:pPr>
            <a:r>
              <a:t>Async Button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962656"/>
            <a:ext cx="1847088" cy="2103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D6D6D"/>
                </a:solidFill>
                <a:latin typeface="Noto Sans CJK KR"/>
              </a:defRPr>
            </a:pPr>
            <a:r>
              <a:t>비동기 입력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679191" y="2889504"/>
            <a:ext cx="393193" cy="0"/>
          </a:xfrm>
          <a:prstGeom prst="line">
            <a:avLst/>
          </a:prstGeom>
          <a:ln w="12700">
            <a:solidFill>
              <a:srgbClr val="6D6D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3000624" y="2889504"/>
            <a:ext cx="71760" cy="40289"/>
          </a:xfrm>
          <a:prstGeom prst="line">
            <a:avLst/>
          </a:prstGeom>
          <a:ln w="12700">
            <a:solidFill>
              <a:srgbClr val="6D6D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 flipV="1">
            <a:off x="3000624" y="2849214"/>
            <a:ext cx="71760" cy="40290"/>
          </a:xfrm>
          <a:prstGeom prst="line">
            <a:avLst/>
          </a:prstGeom>
          <a:ln w="12700">
            <a:solidFill>
              <a:srgbClr val="6D6D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3108960" y="2514600"/>
            <a:ext cx="1938528" cy="786384"/>
          </a:xfrm>
          <a:prstGeom prst="rect">
            <a:avLst/>
          </a:prstGeom>
          <a:solidFill>
            <a:srgbClr val="FFFFFF"/>
          </a:solidFill>
          <a:ln w="10795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154680" y="2642616"/>
            <a:ext cx="1847088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11111"/>
                </a:solidFill>
                <a:latin typeface="Noto Sans CJK KR"/>
              </a:defRPr>
            </a:pPr>
            <a:r>
              <a:t>FF1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54680" y="2962656"/>
            <a:ext cx="1847088" cy="2103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D6D6D"/>
                </a:solidFill>
                <a:latin typeface="Noto Sans CJK KR"/>
              </a:defRPr>
            </a:pPr>
            <a:r>
              <a:t>준안정 상태 가능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056632" y="2889504"/>
            <a:ext cx="393192" cy="0"/>
          </a:xfrm>
          <a:prstGeom prst="line">
            <a:avLst/>
          </a:prstGeom>
          <a:ln w="12700">
            <a:solidFill>
              <a:srgbClr val="6D6D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5378064" y="2889504"/>
            <a:ext cx="71760" cy="40289"/>
          </a:xfrm>
          <a:prstGeom prst="line">
            <a:avLst/>
          </a:prstGeom>
          <a:ln w="12700">
            <a:solidFill>
              <a:srgbClr val="6D6D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 flipV="1">
            <a:off x="5378064" y="2849214"/>
            <a:ext cx="71760" cy="40290"/>
          </a:xfrm>
          <a:prstGeom prst="line">
            <a:avLst/>
          </a:prstGeom>
          <a:ln w="12700">
            <a:solidFill>
              <a:srgbClr val="6D6D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5486400" y="2514600"/>
            <a:ext cx="1938528" cy="786384"/>
          </a:xfrm>
          <a:prstGeom prst="rect">
            <a:avLst/>
          </a:prstGeom>
          <a:solidFill>
            <a:srgbClr val="FFFFFF"/>
          </a:solidFill>
          <a:ln w="10795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532120" y="2642616"/>
            <a:ext cx="1847088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11111"/>
                </a:solidFill>
                <a:latin typeface="Noto Sans CJK KR"/>
              </a:defRPr>
            </a:pPr>
            <a:r>
              <a:t>FF2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32120" y="2962656"/>
            <a:ext cx="1847088" cy="2103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D6D6D"/>
                </a:solidFill>
                <a:latin typeface="Noto Sans CJK KR"/>
              </a:defRPr>
            </a:pPr>
            <a:r>
              <a:t>전파 위험 감소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434071" y="2889504"/>
            <a:ext cx="393193" cy="0"/>
          </a:xfrm>
          <a:prstGeom prst="line">
            <a:avLst/>
          </a:prstGeom>
          <a:ln w="12700">
            <a:solidFill>
              <a:srgbClr val="6D6D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7755504" y="2889504"/>
            <a:ext cx="71760" cy="40289"/>
          </a:xfrm>
          <a:prstGeom prst="line">
            <a:avLst/>
          </a:prstGeom>
          <a:ln w="12700">
            <a:solidFill>
              <a:srgbClr val="6D6D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 flipV="1">
            <a:off x="7755504" y="2849214"/>
            <a:ext cx="71760" cy="40290"/>
          </a:xfrm>
          <a:prstGeom prst="line">
            <a:avLst/>
          </a:prstGeom>
          <a:ln w="12700">
            <a:solidFill>
              <a:srgbClr val="6D6D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7863840" y="2514600"/>
            <a:ext cx="1938528" cy="786384"/>
          </a:xfrm>
          <a:prstGeom prst="rect">
            <a:avLst/>
          </a:prstGeom>
          <a:solidFill>
            <a:srgbClr val="FFFFFF"/>
          </a:solidFill>
          <a:ln w="10795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909560" y="2642616"/>
            <a:ext cx="1847088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11111"/>
                </a:solidFill>
                <a:latin typeface="Noto Sans CJK KR"/>
              </a:defRPr>
            </a:pPr>
            <a:r>
              <a:t>Debouncer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09560" y="2962656"/>
            <a:ext cx="1847088" cy="2103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D6D6D"/>
                </a:solidFill>
                <a:latin typeface="Noto Sans CJK KR"/>
              </a:defRPr>
            </a:pPr>
            <a:r>
              <a:t>채터링 제거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811512" y="2889504"/>
            <a:ext cx="393192" cy="0"/>
          </a:xfrm>
          <a:prstGeom prst="line">
            <a:avLst/>
          </a:prstGeom>
          <a:ln w="12700">
            <a:solidFill>
              <a:srgbClr val="6D6D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>
            <a:off x="10132944" y="2889504"/>
            <a:ext cx="71760" cy="40289"/>
          </a:xfrm>
          <a:prstGeom prst="line">
            <a:avLst/>
          </a:prstGeom>
          <a:ln w="12700">
            <a:solidFill>
              <a:srgbClr val="6D6D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 flipV="1">
            <a:off x="10132944" y="2849214"/>
            <a:ext cx="71760" cy="40290"/>
          </a:xfrm>
          <a:prstGeom prst="line">
            <a:avLst/>
          </a:prstGeom>
          <a:ln w="12700">
            <a:solidFill>
              <a:srgbClr val="6D6D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10241280" y="2514600"/>
            <a:ext cx="1938528" cy="786384"/>
          </a:xfrm>
          <a:prstGeom prst="rect">
            <a:avLst/>
          </a:prstGeom>
          <a:solidFill>
            <a:srgbClr val="FFFFFF"/>
          </a:solidFill>
          <a:ln w="10795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287000" y="2642616"/>
            <a:ext cx="1847088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11111"/>
                </a:solidFill>
                <a:latin typeface="Noto Sans CJK KR"/>
              </a:defRPr>
            </a:pPr>
            <a:r>
              <a:t>Edge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87000" y="2962656"/>
            <a:ext cx="1847088" cy="2103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D6D6D"/>
                </a:solidFill>
                <a:latin typeface="Noto Sans CJK KR"/>
              </a:defRPr>
            </a:pPr>
            <a:r>
              <a:t>1clk pulse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3099816" y="3739896"/>
            <a:ext cx="3154680" cy="0"/>
          </a:xfrm>
          <a:prstGeom prst="line">
            <a:avLst/>
          </a:prstGeom>
          <a:ln w="12700">
            <a:solidFill>
              <a:srgbClr val="6D6D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3182112" y="3913632"/>
            <a:ext cx="612648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6D6D6D"/>
                </a:solidFill>
                <a:latin typeface="Noto Sans CJK KR"/>
              </a:defRPr>
            </a:pPr>
            <a:r>
              <a:t>100MHz CLK으로 FF1/FF2 샘플링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41832" y="4754880"/>
            <a:ext cx="3410712" cy="0"/>
          </a:xfrm>
          <a:prstGeom prst="line">
            <a:avLst/>
          </a:prstGeom>
          <a:ln w="9525">
            <a:solidFill>
              <a:srgbClr val="D1D1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960120" y="4873752"/>
            <a:ext cx="3374136" cy="2834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11111"/>
                </a:solidFill>
                <a:latin typeface="Noto Sans CJK KR"/>
              </a:defRPr>
            </a:pPr>
            <a:r>
              <a:t>원인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" y="5193792"/>
            <a:ext cx="3374136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D6D6D"/>
                </a:solidFill>
                <a:latin typeface="Noto Sans CJK KR"/>
              </a:defRPr>
            </a:pPr>
            <a:r>
              <a:t>Setup/Hold 조건 근처에서 입력 전이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4736592" y="4754880"/>
            <a:ext cx="3410712" cy="0"/>
          </a:xfrm>
          <a:prstGeom prst="line">
            <a:avLst/>
          </a:prstGeom>
          <a:ln w="9525">
            <a:solidFill>
              <a:srgbClr val="D1D1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4754880" y="4873752"/>
            <a:ext cx="3374136" cy="2834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11111"/>
                </a:solidFill>
                <a:latin typeface="Noto Sans CJK KR"/>
              </a:defRPr>
            </a:pPr>
            <a:r>
              <a:t>문제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54880" y="5193792"/>
            <a:ext cx="3374136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D6D6D"/>
                </a:solidFill>
                <a:latin typeface="Noto Sans CJK KR"/>
              </a:defRPr>
            </a:pPr>
            <a:r>
              <a:t>FF 출력의 확정 시점이 늦어 후속 논리 영향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8531352" y="4754880"/>
            <a:ext cx="3410712" cy="0"/>
          </a:xfrm>
          <a:prstGeom prst="line">
            <a:avLst/>
          </a:prstGeom>
          <a:ln w="9525">
            <a:solidFill>
              <a:srgbClr val="D1D1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8549640" y="4873752"/>
            <a:ext cx="3374136" cy="2834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11111"/>
                </a:solidFill>
                <a:latin typeface="Noto Sans CJK KR"/>
              </a:defRPr>
            </a:pPr>
            <a:r>
              <a:t>대응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49640" y="5193792"/>
            <a:ext cx="3374136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D6D6D"/>
                </a:solidFill>
                <a:latin typeface="Noto Sans CJK KR"/>
              </a:defRPr>
            </a:pPr>
            <a:r>
              <a:t>2FF Synchronizer로 전파 위험 감소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640080" y="6345936"/>
            <a:ext cx="10927080" cy="0"/>
          </a:xfrm>
          <a:prstGeom prst="line">
            <a:avLst/>
          </a:prstGeom>
          <a:ln w="8890">
            <a:solidFill>
              <a:srgbClr val="D1D1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6D6D6D"/>
                </a:solidFill>
                <a:latin typeface="Noto Sans CJK KR"/>
              </a:defRPr>
            </a:pPr>
            <a:r>
              <a:t>BACKGROUND TECHNOLOGY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94360" y="704088"/>
            <a:ext cx="11000232" cy="0"/>
          </a:xfrm>
          <a:prstGeom prst="line">
            <a:avLst/>
          </a:prstGeom>
          <a:ln w="11430">
            <a:solidFill>
              <a:srgbClr val="D1D1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12648" y="896112"/>
            <a:ext cx="10954512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11111"/>
                </a:solidFill>
                <a:latin typeface="Noto Sans CJK KR"/>
              </a:defRPr>
            </a:pPr>
            <a:r>
              <a:t>04  Background | Glitch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36748"/>
            <a:ext cx="10936224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D6D6D"/>
                </a:solidFill>
                <a:latin typeface="Noto Sans CJK KR"/>
              </a:defRPr>
            </a:pPr>
            <a:r>
              <a:rPr lang="ko-KR" altLang="en-US" dirty="0" err="1"/>
              <a:t>조합논리</a:t>
            </a:r>
            <a:r>
              <a:rPr lang="ko-KR" altLang="en-US" dirty="0"/>
              <a:t> 회로의 전파 지연 차이로 인해 매우 짧은 잘못된 펄스가 발생하는 현상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886968" y="2596896"/>
            <a:ext cx="56692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11111"/>
                </a:solidFill>
                <a:latin typeface="Noto Sans CJK KR"/>
              </a:defRPr>
            </a:pPr>
            <a:r>
              <a:t>A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444752" y="2770632"/>
            <a:ext cx="713232" cy="0"/>
          </a:xfrm>
          <a:prstGeom prst="line">
            <a:avLst/>
          </a:prstGeom>
          <a:ln w="17780">
            <a:solidFill>
              <a:srgbClr val="2424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157984" y="2770632"/>
            <a:ext cx="2670048" cy="0"/>
          </a:xfrm>
          <a:prstGeom prst="line">
            <a:avLst/>
          </a:prstGeom>
          <a:ln w="16510">
            <a:solidFill>
              <a:srgbClr val="2424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157984" y="2770632"/>
            <a:ext cx="0" cy="950976"/>
          </a:xfrm>
          <a:prstGeom prst="line">
            <a:avLst/>
          </a:prstGeom>
          <a:ln w="15240">
            <a:solidFill>
              <a:srgbClr val="2424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157984" y="3721608"/>
            <a:ext cx="768096" cy="0"/>
          </a:xfrm>
          <a:prstGeom prst="line">
            <a:avLst/>
          </a:prstGeom>
          <a:ln w="15240">
            <a:solidFill>
              <a:srgbClr val="2424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2926080" y="3410712"/>
            <a:ext cx="1508760" cy="612648"/>
          </a:xfrm>
          <a:prstGeom prst="rect">
            <a:avLst/>
          </a:prstGeom>
          <a:noFill/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990088" y="3575304"/>
            <a:ext cx="1380744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11111"/>
                </a:solidFill>
                <a:latin typeface="Noto Sans CJK KR"/>
              </a:defRPr>
            </a:pPr>
            <a:r>
              <a:t>NOT + delay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434840" y="3721608"/>
            <a:ext cx="155448" cy="0"/>
          </a:xfrm>
          <a:prstGeom prst="line">
            <a:avLst/>
          </a:prstGeom>
          <a:ln w="15240">
            <a:solidFill>
              <a:srgbClr val="2424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4590288" y="3291840"/>
            <a:ext cx="0" cy="429768"/>
          </a:xfrm>
          <a:prstGeom prst="line">
            <a:avLst/>
          </a:prstGeom>
          <a:ln w="15240">
            <a:solidFill>
              <a:srgbClr val="2424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590288" y="3291840"/>
            <a:ext cx="237744" cy="0"/>
          </a:xfrm>
          <a:prstGeom prst="line">
            <a:avLst/>
          </a:prstGeom>
          <a:ln w="15240">
            <a:solidFill>
              <a:srgbClr val="2424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4828032" y="2505456"/>
            <a:ext cx="1124712" cy="1033271"/>
          </a:xfrm>
          <a:prstGeom prst="rect">
            <a:avLst/>
          </a:prstGeom>
          <a:noFill/>
          <a:ln w="12700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892040" y="2889504"/>
            <a:ext cx="987552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11111"/>
                </a:solidFill>
                <a:latin typeface="Noto Sans CJK KR"/>
              </a:defRPr>
            </a:pPr>
            <a:r>
              <a:t>AND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952744" y="3008376"/>
            <a:ext cx="448056" cy="0"/>
          </a:xfrm>
          <a:prstGeom prst="line">
            <a:avLst/>
          </a:prstGeom>
          <a:ln w="15240">
            <a:solidFill>
              <a:srgbClr val="2424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6329040" y="3008376"/>
            <a:ext cx="71760" cy="40289"/>
          </a:xfrm>
          <a:prstGeom prst="line">
            <a:avLst/>
          </a:prstGeom>
          <a:ln w="15240">
            <a:solidFill>
              <a:srgbClr val="2424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 flipV="1">
            <a:off x="6329040" y="2968086"/>
            <a:ext cx="71760" cy="40290"/>
          </a:xfrm>
          <a:prstGeom prst="line">
            <a:avLst/>
          </a:prstGeom>
          <a:ln w="15240">
            <a:solidFill>
              <a:srgbClr val="2424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601968" y="2450592"/>
            <a:ext cx="470916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11111"/>
                </a:solidFill>
                <a:latin typeface="Noto Sans CJK KR"/>
              </a:defRPr>
            </a:pPr>
            <a:r>
              <a:t>Y = A · ¬A = 0 (이상적)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01968" y="3209544"/>
            <a:ext cx="4709160" cy="4663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11111"/>
                </a:solidFill>
                <a:latin typeface="Noto Sans CJK KR"/>
              </a:defRPr>
            </a:pPr>
            <a:r>
              <a:t>실제 경로 지연 차이 → 짧은 Pulse 가능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7552" y="4498848"/>
            <a:ext cx="512064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11111"/>
                </a:solidFill>
                <a:latin typeface="Noto Sans CJK KR"/>
              </a:defRPr>
            </a:pPr>
            <a:r>
              <a:t>A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2103120" y="4773168"/>
            <a:ext cx="723899" cy="0"/>
          </a:xfrm>
          <a:prstGeom prst="line">
            <a:avLst/>
          </a:prstGeom>
          <a:ln w="2159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827019" y="4773168"/>
            <a:ext cx="723900" cy="0"/>
          </a:xfrm>
          <a:prstGeom prst="line">
            <a:avLst/>
          </a:prstGeom>
          <a:ln w="2159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3550919" y="4462272"/>
            <a:ext cx="0" cy="310896"/>
          </a:xfrm>
          <a:prstGeom prst="line">
            <a:avLst/>
          </a:prstGeom>
          <a:ln w="2159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3550919" y="4462272"/>
            <a:ext cx="723901" cy="0"/>
          </a:xfrm>
          <a:prstGeom prst="line">
            <a:avLst/>
          </a:prstGeom>
          <a:ln w="2159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4274820" y="4462272"/>
            <a:ext cx="723900" cy="0"/>
          </a:xfrm>
          <a:prstGeom prst="line">
            <a:avLst/>
          </a:prstGeom>
          <a:ln w="2159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4998720" y="4462272"/>
            <a:ext cx="723900" cy="0"/>
          </a:xfrm>
          <a:prstGeom prst="line">
            <a:avLst/>
          </a:prstGeom>
          <a:ln w="2159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722620" y="4462272"/>
            <a:ext cx="723900" cy="0"/>
          </a:xfrm>
          <a:prstGeom prst="line">
            <a:avLst/>
          </a:prstGeom>
          <a:ln w="2159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6446520" y="4462272"/>
            <a:ext cx="723899" cy="0"/>
          </a:xfrm>
          <a:prstGeom prst="line">
            <a:avLst/>
          </a:prstGeom>
          <a:ln w="2159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7170419" y="4462272"/>
            <a:ext cx="723901" cy="0"/>
          </a:xfrm>
          <a:prstGeom prst="line">
            <a:avLst/>
          </a:prstGeom>
          <a:ln w="2159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7894320" y="4462272"/>
            <a:ext cx="723900" cy="0"/>
          </a:xfrm>
          <a:prstGeom prst="line">
            <a:avLst/>
          </a:prstGeom>
          <a:ln w="2159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8618220" y="4462272"/>
            <a:ext cx="723899" cy="0"/>
          </a:xfrm>
          <a:prstGeom prst="line">
            <a:avLst/>
          </a:prstGeom>
          <a:ln w="2159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9342119" y="4462272"/>
            <a:ext cx="723901" cy="0"/>
          </a:xfrm>
          <a:prstGeom prst="line">
            <a:avLst/>
          </a:prstGeom>
          <a:ln w="2159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10066020" y="4462272"/>
            <a:ext cx="723900" cy="0"/>
          </a:xfrm>
          <a:prstGeom prst="line">
            <a:avLst/>
          </a:prstGeom>
          <a:ln w="2159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987552" y="5184648"/>
            <a:ext cx="512064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11111"/>
                </a:solidFill>
                <a:latin typeface="Noto Sans CJK KR"/>
              </a:defRPr>
            </a:pPr>
            <a:r>
              <a:t>Y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2103120" y="5468112"/>
            <a:ext cx="723899" cy="0"/>
          </a:xfrm>
          <a:prstGeom prst="line">
            <a:avLst/>
          </a:prstGeom>
          <a:ln w="2159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2827019" y="5468112"/>
            <a:ext cx="723900" cy="0"/>
          </a:xfrm>
          <a:prstGeom prst="line">
            <a:avLst/>
          </a:prstGeom>
          <a:ln w="2159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3550919" y="5468112"/>
            <a:ext cx="723901" cy="0"/>
          </a:xfrm>
          <a:prstGeom prst="line">
            <a:avLst/>
          </a:prstGeom>
          <a:ln w="2159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4274820" y="5157216"/>
            <a:ext cx="0" cy="310896"/>
          </a:xfrm>
          <a:prstGeom prst="line">
            <a:avLst/>
          </a:prstGeom>
          <a:ln w="2159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274820" y="5157216"/>
            <a:ext cx="723900" cy="0"/>
          </a:xfrm>
          <a:prstGeom prst="line">
            <a:avLst/>
          </a:prstGeom>
          <a:ln w="2159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998720" y="5157216"/>
            <a:ext cx="0" cy="310896"/>
          </a:xfrm>
          <a:prstGeom prst="line">
            <a:avLst/>
          </a:prstGeom>
          <a:ln w="2159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998720" y="5468112"/>
            <a:ext cx="723900" cy="0"/>
          </a:xfrm>
          <a:prstGeom prst="line">
            <a:avLst/>
          </a:prstGeom>
          <a:ln w="2159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5722620" y="5468112"/>
            <a:ext cx="723900" cy="0"/>
          </a:xfrm>
          <a:prstGeom prst="line">
            <a:avLst/>
          </a:prstGeom>
          <a:ln w="2159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6446520" y="5468112"/>
            <a:ext cx="723899" cy="0"/>
          </a:xfrm>
          <a:prstGeom prst="line">
            <a:avLst/>
          </a:prstGeom>
          <a:ln w="2159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7170419" y="5468112"/>
            <a:ext cx="723901" cy="0"/>
          </a:xfrm>
          <a:prstGeom prst="line">
            <a:avLst/>
          </a:prstGeom>
          <a:ln w="2159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7894320" y="5468112"/>
            <a:ext cx="723900" cy="0"/>
          </a:xfrm>
          <a:prstGeom prst="line">
            <a:avLst/>
          </a:prstGeom>
          <a:ln w="2159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8618220" y="5468112"/>
            <a:ext cx="723899" cy="0"/>
          </a:xfrm>
          <a:prstGeom prst="line">
            <a:avLst/>
          </a:prstGeom>
          <a:ln w="2159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9342119" y="5468112"/>
            <a:ext cx="723901" cy="0"/>
          </a:xfrm>
          <a:prstGeom prst="line">
            <a:avLst/>
          </a:prstGeom>
          <a:ln w="2159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10066020" y="5468112"/>
            <a:ext cx="723900" cy="0"/>
          </a:xfrm>
          <a:prstGeom prst="line">
            <a:avLst/>
          </a:prstGeom>
          <a:ln w="2159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4005072" y="5687568"/>
            <a:ext cx="1024128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11111"/>
                </a:solidFill>
                <a:latin typeface="Noto Sans CJK KR"/>
              </a:defRPr>
            </a:pPr>
            <a:r>
              <a:t>Glitch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640080" y="6345936"/>
            <a:ext cx="10927080" cy="0"/>
          </a:xfrm>
          <a:prstGeom prst="line">
            <a:avLst/>
          </a:prstGeom>
          <a:ln w="8890">
            <a:solidFill>
              <a:srgbClr val="D1D1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6D6D6D"/>
                </a:solidFill>
                <a:latin typeface="Noto Sans CJK KR"/>
              </a:defRPr>
            </a:pPr>
            <a:r>
              <a:t>BACKGROUND TECHNOLOGY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94360" y="704088"/>
            <a:ext cx="11000232" cy="0"/>
          </a:xfrm>
          <a:prstGeom prst="line">
            <a:avLst/>
          </a:prstGeom>
          <a:ln w="11430">
            <a:solidFill>
              <a:srgbClr val="D1D1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12648" y="896112"/>
            <a:ext cx="10954512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11111"/>
                </a:solidFill>
                <a:latin typeface="Noto Sans CJK KR"/>
              </a:defRPr>
            </a:pPr>
            <a:r>
              <a:t>04  Background | Fan-out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72184"/>
            <a:ext cx="10936224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D6D6D"/>
                </a:solidFill>
                <a:latin typeface="Noto Sans CJK KR"/>
              </a:defRPr>
            </a:pPr>
            <a:r>
              <a:t>한 개 드라이버가 동시에 구동하는 부하의 수와 배선 특성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816352"/>
            <a:ext cx="2103120" cy="786384"/>
          </a:xfrm>
          <a:prstGeom prst="rect">
            <a:avLst/>
          </a:prstGeom>
          <a:solidFill>
            <a:srgbClr val="FFFFFF"/>
          </a:solidFill>
          <a:ln w="10795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2944368"/>
            <a:ext cx="2011679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11111"/>
                </a:solidFill>
                <a:latin typeface="Noto Sans CJK KR"/>
              </a:defRPr>
            </a:pPr>
            <a:r>
              <a:t>Driver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264408"/>
            <a:ext cx="2011679" cy="2103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D6D6D"/>
                </a:solidFill>
                <a:latin typeface="Noto Sans CJK KR"/>
              </a:defRPr>
            </a:pPr>
            <a:r>
              <a:t>공유 제어 신호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926080" y="3218688"/>
            <a:ext cx="1911096" cy="0"/>
          </a:xfrm>
          <a:prstGeom prst="line">
            <a:avLst/>
          </a:prstGeom>
          <a:ln w="16510">
            <a:solidFill>
              <a:srgbClr val="2424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837176" y="2084831"/>
            <a:ext cx="0" cy="3017521"/>
          </a:xfrm>
          <a:prstGeom prst="line">
            <a:avLst/>
          </a:prstGeom>
          <a:ln w="16510">
            <a:solidFill>
              <a:srgbClr val="2424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837176" y="2295144"/>
            <a:ext cx="1627632" cy="0"/>
          </a:xfrm>
          <a:prstGeom prst="line">
            <a:avLst/>
          </a:prstGeom>
          <a:ln w="13970">
            <a:solidFill>
              <a:srgbClr val="2424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6393048" y="2295144"/>
            <a:ext cx="71760" cy="40289"/>
          </a:xfrm>
          <a:prstGeom prst="line">
            <a:avLst/>
          </a:prstGeom>
          <a:ln w="13970">
            <a:solidFill>
              <a:srgbClr val="2424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 flipV="1">
            <a:off x="6393048" y="2254854"/>
            <a:ext cx="71760" cy="40290"/>
          </a:xfrm>
          <a:prstGeom prst="line">
            <a:avLst/>
          </a:prstGeom>
          <a:ln w="13970">
            <a:solidFill>
              <a:srgbClr val="2424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6492240" y="1911095"/>
            <a:ext cx="2194560" cy="786384"/>
          </a:xfrm>
          <a:prstGeom prst="rect">
            <a:avLst/>
          </a:prstGeom>
          <a:solidFill>
            <a:srgbClr val="FFFFFF"/>
          </a:solidFill>
          <a:ln w="10795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37959" y="2039112"/>
            <a:ext cx="210312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11111"/>
                </a:solidFill>
                <a:latin typeface="Noto Sans CJK KR"/>
              </a:defRPr>
            </a:pPr>
            <a:r>
              <a:t>Load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59" y="2359152"/>
            <a:ext cx="2103120" cy="2103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D6D6D"/>
                </a:solidFill>
                <a:latin typeface="Noto Sans CJK KR"/>
              </a:defRPr>
            </a:pPr>
            <a:r>
              <a:t>Register / logic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837176" y="3099816"/>
            <a:ext cx="1627632" cy="0"/>
          </a:xfrm>
          <a:prstGeom prst="line">
            <a:avLst/>
          </a:prstGeom>
          <a:ln w="13970">
            <a:solidFill>
              <a:srgbClr val="2424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6393048" y="3099816"/>
            <a:ext cx="71760" cy="40289"/>
          </a:xfrm>
          <a:prstGeom prst="line">
            <a:avLst/>
          </a:prstGeom>
          <a:ln w="13970">
            <a:solidFill>
              <a:srgbClr val="2424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 flipV="1">
            <a:off x="6393048" y="3059526"/>
            <a:ext cx="71760" cy="40290"/>
          </a:xfrm>
          <a:prstGeom prst="line">
            <a:avLst/>
          </a:prstGeom>
          <a:ln w="13970">
            <a:solidFill>
              <a:srgbClr val="2424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6492240" y="2715768"/>
            <a:ext cx="2194560" cy="786384"/>
          </a:xfrm>
          <a:prstGeom prst="rect">
            <a:avLst/>
          </a:prstGeom>
          <a:solidFill>
            <a:srgbClr val="FFFFFF"/>
          </a:solidFill>
          <a:ln w="10795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37959" y="2843784"/>
            <a:ext cx="210312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11111"/>
                </a:solidFill>
                <a:latin typeface="Noto Sans CJK KR"/>
              </a:defRPr>
            </a:pPr>
            <a:r>
              <a:t>Load 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59" y="3163824"/>
            <a:ext cx="2103120" cy="2103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D6D6D"/>
                </a:solidFill>
                <a:latin typeface="Noto Sans CJK KR"/>
              </a:defRPr>
            </a:pPr>
            <a:r>
              <a:t>Register / logic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837176" y="3904488"/>
            <a:ext cx="1627632" cy="0"/>
          </a:xfrm>
          <a:prstGeom prst="line">
            <a:avLst/>
          </a:prstGeom>
          <a:ln w="13970">
            <a:solidFill>
              <a:srgbClr val="2424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6393048" y="3904488"/>
            <a:ext cx="71760" cy="40289"/>
          </a:xfrm>
          <a:prstGeom prst="line">
            <a:avLst/>
          </a:prstGeom>
          <a:ln w="13970">
            <a:solidFill>
              <a:srgbClr val="2424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 flipV="1">
            <a:off x="6393048" y="3864198"/>
            <a:ext cx="71760" cy="40290"/>
          </a:xfrm>
          <a:prstGeom prst="line">
            <a:avLst/>
          </a:prstGeom>
          <a:ln w="13970">
            <a:solidFill>
              <a:srgbClr val="2424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6492240" y="3520440"/>
            <a:ext cx="2194560" cy="786384"/>
          </a:xfrm>
          <a:prstGeom prst="rect">
            <a:avLst/>
          </a:prstGeom>
          <a:solidFill>
            <a:srgbClr val="FFFFFF"/>
          </a:solidFill>
          <a:ln w="10795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537959" y="3648456"/>
            <a:ext cx="210312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11111"/>
                </a:solidFill>
                <a:latin typeface="Noto Sans CJK KR"/>
              </a:defRPr>
            </a:pPr>
            <a:r>
              <a:t>Load 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59" y="3968496"/>
            <a:ext cx="2103120" cy="2103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D6D6D"/>
                </a:solidFill>
                <a:latin typeface="Noto Sans CJK KR"/>
              </a:defRPr>
            </a:pPr>
            <a:r>
              <a:t>Register / logic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4837176" y="4709160"/>
            <a:ext cx="1627632" cy="0"/>
          </a:xfrm>
          <a:prstGeom prst="line">
            <a:avLst/>
          </a:prstGeom>
          <a:ln w="13970">
            <a:solidFill>
              <a:srgbClr val="2424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>
            <a:off x="6393048" y="4709160"/>
            <a:ext cx="71760" cy="40289"/>
          </a:xfrm>
          <a:prstGeom prst="line">
            <a:avLst/>
          </a:prstGeom>
          <a:ln w="13970">
            <a:solidFill>
              <a:srgbClr val="2424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 flipV="1">
            <a:off x="6393048" y="4668870"/>
            <a:ext cx="71760" cy="40290"/>
          </a:xfrm>
          <a:prstGeom prst="line">
            <a:avLst/>
          </a:prstGeom>
          <a:ln w="13970">
            <a:solidFill>
              <a:srgbClr val="2424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6492240" y="4325112"/>
            <a:ext cx="2194560" cy="786384"/>
          </a:xfrm>
          <a:prstGeom prst="rect">
            <a:avLst/>
          </a:prstGeom>
          <a:solidFill>
            <a:srgbClr val="FFFFFF"/>
          </a:solidFill>
          <a:ln w="10795"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537959" y="4453128"/>
            <a:ext cx="210312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11111"/>
                </a:solidFill>
                <a:latin typeface="Noto Sans CJK KR"/>
              </a:defRPr>
            </a:pPr>
            <a:r>
              <a:t>Load 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37959" y="4773168"/>
            <a:ext cx="2103120" cy="2103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D6D6D"/>
                </a:solidFill>
                <a:latin typeface="Noto Sans CJK KR"/>
              </a:defRPr>
            </a:pPr>
            <a:r>
              <a:t>Register / logic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43416" y="2871216"/>
            <a:ext cx="1993392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111111"/>
                </a:solidFill>
                <a:latin typeface="Noto Sans CJK KR"/>
              </a:defRPr>
            </a:pPr>
            <a:r>
              <a:t>Fan-out = 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34272" y="3364992"/>
            <a:ext cx="219456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D6D6D"/>
                </a:solidFill>
                <a:latin typeface="Noto Sans CJK KR"/>
              </a:defRPr>
            </a:pPr>
            <a:r>
              <a:t>위 숫자는 도식상의 예시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23544" y="5193792"/>
            <a:ext cx="3447288" cy="0"/>
          </a:xfrm>
          <a:prstGeom prst="line">
            <a:avLst/>
          </a:prstGeom>
          <a:ln w="9525">
            <a:solidFill>
              <a:srgbClr val="D1D1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941832" y="5312664"/>
            <a:ext cx="3410712" cy="2834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11111"/>
                </a:solidFill>
                <a:latin typeface="Noto Sans CJK KR"/>
              </a:defRPr>
            </a:pPr>
            <a:r>
              <a:t>정의·원인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41832" y="5632704"/>
            <a:ext cx="341071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D6D6D"/>
                </a:solidFill>
                <a:latin typeface="Noto Sans CJK KR"/>
              </a:defRPr>
            </a:pPr>
            <a:r>
              <a:t>출력 Net에 연결된 입력 수 증가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4700016" y="5193792"/>
            <a:ext cx="3447288" cy="0"/>
          </a:xfrm>
          <a:prstGeom prst="line">
            <a:avLst/>
          </a:prstGeom>
          <a:ln w="9525">
            <a:solidFill>
              <a:srgbClr val="D1D1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4718303" y="5312664"/>
            <a:ext cx="3410712" cy="2834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11111"/>
                </a:solidFill>
                <a:latin typeface="Noto Sans CJK KR"/>
              </a:defRPr>
            </a:pPr>
            <a:r>
              <a:t>문제점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718303" y="5632704"/>
            <a:ext cx="341071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D6D6D"/>
                </a:solidFill>
                <a:latin typeface="Noto Sans CJK KR"/>
              </a:defRPr>
            </a:pPr>
            <a:r>
              <a:t>배선 용량·Net Delay·Slew 악화 가능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8476488" y="5193792"/>
            <a:ext cx="3447288" cy="0"/>
          </a:xfrm>
          <a:prstGeom prst="line">
            <a:avLst/>
          </a:prstGeom>
          <a:ln w="9525">
            <a:solidFill>
              <a:srgbClr val="D1D1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8494776" y="5312664"/>
            <a:ext cx="3410712" cy="2834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11111"/>
                </a:solidFill>
                <a:latin typeface="Noto Sans CJK KR"/>
              </a:defRPr>
            </a:pPr>
            <a:r>
              <a:t>해결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94776" y="5632704"/>
            <a:ext cx="341071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D6D6D"/>
                </a:solidFill>
                <a:latin typeface="Noto Sans CJK KR"/>
              </a:defRPr>
            </a:pPr>
            <a:r>
              <a:t>Timing Report·배치·버퍼·복제 검토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640080" y="6345936"/>
            <a:ext cx="10927080" cy="0"/>
          </a:xfrm>
          <a:prstGeom prst="line">
            <a:avLst/>
          </a:prstGeom>
          <a:ln w="8890">
            <a:solidFill>
              <a:srgbClr val="D1D1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621792" y="338328"/>
            <a:ext cx="10945368" cy="0"/>
          </a:xfrm>
          <a:prstGeom prst="line">
            <a:avLst/>
          </a:prstGeom>
          <a:ln w="10160">
            <a:solidFill>
              <a:srgbClr val="D1D1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667512" y="640080"/>
            <a:ext cx="81381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D6D6D"/>
                </a:solidFill>
                <a:latin typeface="Noto Sans CJK KR"/>
              </a:defRPr>
            </a:pPr>
            <a:r>
              <a:t>BASYS3 · VERILOG RTL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2103120"/>
            <a:ext cx="9235440" cy="10241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6100" b="1">
                <a:solidFill>
                  <a:srgbClr val="111111"/>
                </a:solidFill>
                <a:latin typeface="Noto Sans CJK KR"/>
              </a:defRPr>
            </a:pPr>
            <a:r>
              <a:t>감사합니다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3538728"/>
            <a:ext cx="585216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6D6D6D"/>
                </a:solidFill>
                <a:latin typeface="Noto Sans CJK KR"/>
              </a:defRPr>
            </a:pPr>
            <a:r>
              <a:t>Q &amp; A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13232" y="4754880"/>
            <a:ext cx="10460736" cy="0"/>
          </a:xfrm>
          <a:prstGeom prst="line">
            <a:avLst/>
          </a:prstGeom>
          <a:ln w="10160">
            <a:solidFill>
              <a:srgbClr val="D1D1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5093208"/>
            <a:ext cx="1028700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6D6D6D"/>
                </a:solidFill>
                <a:latin typeface="Noto Sans CJK KR"/>
              </a:defRPr>
            </a:pPr>
            <a:r>
              <a:t>분초시계 · Stopwatch · FSM · Timing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181344"/>
            <a:ext cx="9326880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D6D6D"/>
                </a:solidFill>
                <a:latin typeface="Noto Sans CJK KR"/>
              </a:defRPr>
            </a:pPr>
            <a:r>
              <a:rPr dirty="0"/>
              <a:t>2026  |  Basys3 FPGA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90</TotalTime>
  <Words>1374</Words>
  <Application>Microsoft Office PowerPoint</Application>
  <PresentationFormat>와이드스크린</PresentationFormat>
  <Paragraphs>395</Paragraphs>
  <Slides>25</Slides>
  <Notes>0</Notes>
  <HiddenSlides>0</HiddenSlides>
  <MMClips>1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25</vt:i4>
      </vt:variant>
    </vt:vector>
  </HeadingPairs>
  <TitlesOfParts>
    <vt:vector size="31" baseType="lpstr">
      <vt:lpstr>Noto Sans CJK KR</vt:lpstr>
      <vt:lpstr>Noto Sans Mono CJK KR</vt:lpstr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subject/>
  <dc:creator>kccistc</dc:creator>
  <cp:keywords/>
  <dc:description>generated using python-pptx</dc:description>
  <cp:lastModifiedBy>kccistc</cp:lastModifiedBy>
  <cp:revision>8</cp:revision>
  <dcterms:created xsi:type="dcterms:W3CDTF">2013-01-27T09:14:16Z</dcterms:created>
  <dcterms:modified xsi:type="dcterms:W3CDTF">2026-10-23T01:25:10Z</dcterms:modified>
  <cp:category/>
</cp:coreProperties>
</file>